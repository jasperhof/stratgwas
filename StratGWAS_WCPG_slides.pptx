
<file path=[Content_Types].xml><?xml version="1.0" encoding="utf-8"?>
<Types xmlns="http://schemas.openxmlformats.org/package/2006/content-types">
  <Default Extension="bin" ContentType="image/png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>
  <p:sldMasterIdLst>
    <p:sldMasterId id="2147483648" r:id="rId1"/>
    <p:sldMasterId id="2147483679" r:id="rId2"/>
  </p:sldMasterIdLst>
  <p:notesMasterIdLst>
    <p:notesMasterId r:id="rId17"/>
  </p:notesMasterIdLst>
  <p:handoutMasterIdLst>
    <p:handoutMasterId r:id="rId18"/>
  </p:handoutMasterIdLst>
  <p:sldIdLst>
    <p:sldId id="261" r:id="rId3"/>
    <p:sldId id="317" r:id="rId4"/>
    <p:sldId id="310" r:id="rId5"/>
    <p:sldId id="311" r:id="rId6"/>
    <p:sldId id="283" r:id="rId7"/>
    <p:sldId id="284" r:id="rId8"/>
    <p:sldId id="285" r:id="rId9"/>
    <p:sldId id="289" r:id="rId10"/>
    <p:sldId id="301" r:id="rId11"/>
    <p:sldId id="294" r:id="rId12"/>
    <p:sldId id="295" r:id="rId13"/>
    <p:sldId id="290" r:id="rId14"/>
    <p:sldId id="318" r:id="rId15"/>
    <p:sldId id="296" r:id="rId16"/>
  </p:sldIdLst>
  <p:sldSz cx="12188825" cy="6858000"/>
  <p:notesSz cx="6797675" cy="9926638"/>
  <p:embeddedFontLst>
    <p:embeddedFont>
      <p:font typeface="AU Passata" panose="020B0503030502030804"/>
      <p:regular r:id="rId19"/>
      <p:bold r:id="rId20"/>
    </p:embeddedFont>
    <p:embeddedFont>
      <p:font typeface="AU Passata Light" panose="020B0303030902030804" pitchFamily="34" charset="77"/>
      <p:regular r:id="rId21"/>
      <p:bold r:id="rId22"/>
    </p:embeddedFont>
    <p:embeddedFont>
      <p:font typeface="AU Peto" pitchFamily="82" charset="77"/>
      <p:regular r:id="rId23"/>
      <p:bold r:id="rId24"/>
    </p:embeddedFont>
    <p:embeddedFont>
      <p:font typeface="Cambria Math" panose="02040503050406030204" pitchFamily="18" charset="0"/>
      <p:regular r:id="rId25"/>
    </p:embeddedFont>
    <p:embeddedFont>
      <p:font typeface="Georgia" panose="02040502050405020303" pitchFamily="18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1pPr>
    <a:lvl2pPr marL="60949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2pPr>
    <a:lvl3pPr marL="1218987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3pPr>
    <a:lvl4pPr marL="1828480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4pPr>
    <a:lvl5pPr marL="2437973" algn="l" rtl="0" fontAlgn="base">
      <a:lnSpc>
        <a:spcPts val="4799"/>
      </a:lnSpc>
      <a:spcBef>
        <a:spcPct val="0"/>
      </a:spcBef>
      <a:spcAft>
        <a:spcPct val="0"/>
      </a:spcAft>
      <a:buFont typeface="AU Passata" pitchFamily="34" charset="0"/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5pPr>
    <a:lvl6pPr marL="304746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6pPr>
    <a:lvl7pPr marL="3656960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7pPr>
    <a:lvl8pPr marL="4266453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8pPr>
    <a:lvl9pPr marL="4875947" algn="l" defTabSz="1218987" rtl="0" eaLnBrk="1" latinLnBrk="0" hangingPunct="1">
      <a:defRPr sz="4799" kern="1200">
        <a:solidFill>
          <a:schemeClr val="tx1"/>
        </a:solidFill>
        <a:latin typeface="AU Passat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46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CD3D93-BA34-2545-9B75-0EDF10BA487B}" v="138" dt="2026-09-23T10:40:55.6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40" autoAdjust="0"/>
    <p:restoredTop sz="93363" autoAdjust="0"/>
  </p:normalViewPr>
  <p:slideViewPr>
    <p:cSldViewPr snapToObjects="1" showGuides="1">
      <p:cViewPr varScale="1">
        <p:scale>
          <a:sx n="109" d="100"/>
          <a:sy n="109" d="100"/>
        </p:scale>
        <p:origin x="1304" y="20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7" d="100"/>
          <a:sy n="87" d="100"/>
        </p:scale>
        <p:origin x="3762" y="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26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88DF0C21-DE6B-488F-B9D9-B7FE08733B70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58050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153"/>
            <a:ext cx="5438140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28583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buFontTx/>
              <a:buNone/>
              <a:defRPr sz="1200"/>
            </a:lvl1pPr>
          </a:lstStyle>
          <a:p>
            <a:pPr>
              <a:defRPr/>
            </a:pPr>
            <a:fld id="{72C160C3-3AB6-49C1-8001-AFDAD271EB5B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0390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1pPr>
    <a:lvl2pPr marL="60949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2pPr>
    <a:lvl3pPr marL="1218987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3pPr>
    <a:lvl4pPr marL="182848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4pPr>
    <a:lvl5pPr marL="2437973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U Passata" pitchFamily="34" charset="0"/>
        <a:ea typeface="+mn-ea"/>
        <a:cs typeface="Arial" charset="0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 smtClean="0"/>
              <a:pPr>
                <a:defRPr/>
              </a:pPr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330480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BD6FE-1812-1D2A-95F0-C5B480553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0DB63-B79C-CEDB-3E95-8045304B2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97602C-B75F-123D-971C-1F83CE4DC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82947-035E-F92D-9C40-23605FFFB9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 smtClean="0"/>
              <a:pPr>
                <a:defRPr/>
              </a:pPr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89380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78623-8B25-4D18-2D9D-80ADC208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24908E-C719-0CF8-E337-3D7F24C8D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139C4A-40E2-6311-83B5-224279447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E0CDC-53FB-A283-69C6-853AD014B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957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C98EF-5F7A-BD9D-56D5-0D2B534AD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3C50C-E953-6C5C-E413-87E4DAE855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5AC4A-42A0-70D7-48EB-B82620F3C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5C16C9-6E7A-FBD6-E6C8-C74AD0572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91967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13071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 figures pop up along with the text (also consider this for other slides)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19725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10B1-E4F0-4F88-6300-F56703571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9B91D-DB43-8BE7-A946-DA1C059C26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959B7-7E69-A487-D854-03382E94F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34D7B-9578-F636-6A7F-E2CCBA40BA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C160C3-3AB6-49C1-8001-AFDAD271EB5B}" type="slidenum">
              <a:rPr lang="en-GB" smtClean="0"/>
              <a:pPr>
                <a:defRPr/>
              </a:pPr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8972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bin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Farvet baggrund"/>
          <p:cNvPicPr preferRelativeResize="0"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</p:spPr>
      </p:pic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33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34" name="Date_DateCustomA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3 October 2026</a:t>
            </a:r>
          </a:p>
        </p:txBody>
      </p:sp>
      <p:sp>
        <p:nvSpPr>
          <p:cNvPr id="36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j-lt"/>
              </a:rPr>
              <a:t>p</a:t>
            </a: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ostdoc</a:t>
            </a:r>
            <a:endParaRPr lang="en-GB" sz="700" b="0" cap="all" baseline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35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7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Jasper Hof</a:t>
            </a:r>
          </a:p>
        </p:txBody>
      </p:sp>
      <p:sp>
        <p:nvSpPr>
          <p:cNvPr id="39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pic>
        <p:nvPicPr>
          <p:cNvPr id="16" name="Au logo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sp>
        <p:nvSpPr>
          <p:cNvPr id="17" name="SecondaryLogo"/>
          <p:cNvSpPr>
            <a:spLocks noChangeArrowheads="1"/>
          </p:cNvSpPr>
          <p:nvPr userDrawn="1"/>
        </p:nvSpPr>
        <p:spPr bwMode="auto">
          <a:xfrm>
            <a:off x="10206113" y="5999002"/>
            <a:ext cx="1666800" cy="558000"/>
          </a:xfrm>
          <a:prstGeom prst="rect">
            <a:avLst/>
          </a:prstGeom>
          <a:solidFill>
            <a:schemeClr val="bg1">
              <a:alpha val="0"/>
            </a:schemeClr>
          </a:solidFill>
          <a:ln w="1778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/>
            </a:pPr>
            <a:endParaRPr lang="en-GB" sz="700" b="0" dirty="0">
              <a:latin typeface="+mn-lt"/>
            </a:endParaRPr>
          </a:p>
        </p:txBody>
      </p:sp>
      <p:pic>
        <p:nvPicPr>
          <p:cNvPr id="18" name="Billede stre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19" name="White Top Rectangle"/>
          <p:cNvSpPr>
            <a:spLocks noChangeArrowheads="1"/>
          </p:cNvSpPr>
          <p:nvPr userDrawn="1"/>
        </p:nvSpPr>
        <p:spPr bwMode="auto">
          <a:xfrm>
            <a:off x="985838" y="3443622"/>
            <a:ext cx="648000" cy="468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 sz="4799" dirty="0"/>
          </a:p>
        </p:txBody>
      </p:sp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1844" y="1520315"/>
            <a:ext cx="9543307" cy="1779553"/>
          </a:xfrm>
        </p:spPr>
        <p:txBody>
          <a:bodyPr wrap="square" anchor="b" anchorCtr="0">
            <a:no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5838" y="3715431"/>
            <a:ext cx="7161212" cy="1746085"/>
          </a:xfrm>
        </p:spPr>
        <p:txBody>
          <a:bodyPr/>
          <a:lstStyle>
            <a:lvl1pPr marL="0" indent="0">
              <a:lnSpc>
                <a:spcPct val="101000"/>
              </a:lnSpc>
              <a:buFontTx/>
              <a:buNone/>
              <a:defRPr sz="2700" b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</p:txBody>
      </p:sp>
      <p:sp>
        <p:nvSpPr>
          <p:cNvPr id="22" name="TextBox 21"/>
          <p:cNvSpPr txBox="1"/>
          <p:nvPr userDrawn="1"/>
        </p:nvSpPr>
        <p:spPr>
          <a:xfrm>
            <a:off x="-2160355" y="2132856"/>
            <a:ext cx="2012649" cy="73866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bold</a:t>
            </a:r>
            <a:endParaRPr lang="en-GB" sz="4799" dirty="0"/>
          </a:p>
        </p:txBody>
      </p:sp>
      <p:sp>
        <p:nvSpPr>
          <p:cNvPr id="38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43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39" name="Date_DateCustomA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kern="1200" cap="all" baseline="0" dirty="0">
                <a:solidFill>
                  <a:schemeClr val="bg1"/>
                </a:solidFill>
                <a:latin typeface="AU Passata" pitchFamily="34" charset="0"/>
                <a:ea typeface="+mn-ea"/>
                <a:cs typeface="+mn-cs"/>
              </a:rPr>
              <a:t>3 October 2026</a:t>
            </a:r>
          </a:p>
        </p:txBody>
      </p:sp>
      <p:sp>
        <p:nvSpPr>
          <p:cNvPr id="41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PhD</a:t>
            </a:r>
          </a:p>
        </p:txBody>
      </p:sp>
      <p:sp>
        <p:nvSpPr>
          <p:cNvPr id="40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2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Jasper Hof</a:t>
            </a:r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stre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16" name="SecondaryLogo"/>
          <p:cNvSpPr>
            <a:spLocks noChangeArrowheads="1"/>
          </p:cNvSpPr>
          <p:nvPr userDrawn="1"/>
        </p:nvSpPr>
        <p:spPr bwMode="auto">
          <a:xfrm>
            <a:off x="10206113" y="5999002"/>
            <a:ext cx="1666800" cy="558000"/>
          </a:xfrm>
          <a:prstGeom prst="rect">
            <a:avLst/>
          </a:prstGeom>
          <a:solidFill>
            <a:schemeClr val="bg1">
              <a:alpha val="0"/>
            </a:schemeClr>
          </a:solidFill>
          <a:ln w="1778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/>
            </a:pPr>
            <a:endParaRPr lang="en-GB" sz="700" b="0" dirty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7008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o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819" name="Title 1"/>
          <p:cNvSpPr>
            <a:spLocks noGrp="1" noChangeArrowheads="1"/>
          </p:cNvSpPr>
          <p:nvPr>
            <p:ph type="ctrTitle"/>
          </p:nvPr>
        </p:nvSpPr>
        <p:spPr>
          <a:xfrm>
            <a:off x="985838" y="2482343"/>
            <a:ext cx="10220325" cy="1661993"/>
          </a:xfrm>
        </p:spPr>
        <p:txBody>
          <a:bodyPr wrap="square" anchor="ctr" anchorCtr="0">
            <a:spAutoFit/>
          </a:bodyPr>
          <a:lstStyle>
            <a:lvl1pPr>
              <a:lnSpc>
                <a:spcPct val="90000"/>
              </a:lnSpc>
              <a:defRPr sz="6000" baseline="0">
                <a:solidFill>
                  <a:schemeClr val="bg1"/>
                </a:solidFill>
                <a:latin typeface="AU Passata Light" panose="020B03030309020308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973598" y="3082506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eller ord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25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bg1"/>
              </a:solidFill>
              <a:latin typeface="AU Passata Light" pitchFamily="34" charset="0"/>
            </a:endParaRPr>
          </a:p>
        </p:txBody>
      </p:sp>
      <p:sp>
        <p:nvSpPr>
          <p:cNvPr id="30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26" name="Date_DateCustomA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kern="1200" cap="all" baseline="0" dirty="0">
                <a:solidFill>
                  <a:schemeClr val="bg1"/>
                </a:solidFill>
                <a:latin typeface="AU Passata" pitchFamily="34" charset="0"/>
                <a:ea typeface="+mn-ea"/>
                <a:cs typeface="+mn-cs"/>
              </a:rPr>
              <a:t>3 October 2026</a:t>
            </a: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postdoc</a:t>
            </a:r>
          </a:p>
        </p:txBody>
      </p:sp>
      <p:sp>
        <p:nvSpPr>
          <p:cNvPr id="27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9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bg1"/>
                </a:solidFill>
                <a:latin typeface="+mn-lt"/>
              </a:rPr>
              <a:t>Jasper Hof</a:t>
            </a:r>
          </a:p>
        </p:txBody>
      </p:sp>
      <p:pic>
        <p:nvPicPr>
          <p:cNvPr id="17" name="Au logo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7600"/>
            <a:ext cx="557569" cy="558000"/>
          </a:xfrm>
          <a:prstGeom prst="rect">
            <a:avLst/>
          </a:prstGeom>
        </p:spPr>
      </p:pic>
      <p:pic>
        <p:nvPicPr>
          <p:cNvPr id="23" name="Billede 2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7999"/>
          </a:xfrm>
          <a:prstGeom prst="rect">
            <a:avLst/>
          </a:prstGeom>
        </p:spPr>
      </p:pic>
      <p:sp>
        <p:nvSpPr>
          <p:cNvPr id="15" name="SecondaryLogo"/>
          <p:cNvSpPr>
            <a:spLocks noChangeArrowheads="1"/>
          </p:cNvSpPr>
          <p:nvPr userDrawn="1"/>
        </p:nvSpPr>
        <p:spPr bwMode="auto">
          <a:xfrm>
            <a:off x="10206113" y="5999002"/>
            <a:ext cx="1666800" cy="558000"/>
          </a:xfrm>
          <a:prstGeom prst="rect">
            <a:avLst/>
          </a:prstGeom>
          <a:solidFill>
            <a:schemeClr val="bg1">
              <a:alpha val="0"/>
            </a:schemeClr>
          </a:solidFill>
          <a:ln w="1778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/>
            </a:pPr>
            <a:endParaRPr lang="en-GB" sz="700" b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7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15913" y="175456"/>
            <a:ext cx="11557000" cy="130932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960079"/>
            <a:ext cx="10220325" cy="393748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extBox 4"/>
          <p:cNvSpPr txBox="1"/>
          <p:nvPr userDrawn="1"/>
        </p:nvSpPr>
        <p:spPr>
          <a:xfrm>
            <a:off x="-1973598" y="340161"/>
            <a:ext cx="182589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 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til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line title and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vid baggrund"/>
          <p:cNvSpPr/>
          <p:nvPr userDrawn="1"/>
        </p:nvSpPr>
        <p:spPr bwMode="auto">
          <a:xfrm>
            <a:off x="0" y="-1"/>
            <a:ext cx="12193200" cy="5894387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15913" y="372643"/>
            <a:ext cx="11556000" cy="752101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5838" y="1373021"/>
            <a:ext cx="10220325" cy="4521366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7128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5" userDrawn="1">
          <p15:clr>
            <a:srgbClr val="00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200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16800" y="230400"/>
            <a:ext cx="5644263" cy="752400"/>
          </a:xfrm>
        </p:spPr>
        <p:txBody>
          <a:bodyPr anchor="t" anchorCtr="0"/>
          <a:lstStyle>
            <a:lvl1pPr>
              <a:defRPr/>
            </a:lvl1pPr>
          </a:lstStyle>
          <a:p>
            <a:r>
              <a:rPr lang="en-GB" dirty="0"/>
              <a:t>Insert title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1371600"/>
            <a:ext cx="4975225" cy="4525964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0198" y="315913"/>
            <a:ext cx="5644110" cy="558165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340161"/>
            <a:ext cx="1825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én linje</a:t>
            </a:r>
            <a:endParaRPr lang="en-GB"/>
          </a:p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Light eller AU Passata Bold</a:t>
            </a:r>
            <a:endParaRPr lang="en-GB" sz="4799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787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5" userDrawn="1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Hvid baggrund"/>
          <p:cNvSpPr/>
          <p:nvPr userDrawn="1"/>
        </p:nvSpPr>
        <p:spPr bwMode="auto">
          <a:xfrm>
            <a:off x="0" y="0"/>
            <a:ext cx="12193200" cy="5911011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5" name="Black Rectangle"/>
          <p:cNvSpPr/>
          <p:nvPr userDrawn="1"/>
        </p:nvSpPr>
        <p:spPr>
          <a:xfrm>
            <a:off x="1001075" y="2694542"/>
            <a:ext cx="647831" cy="4800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  <a:p>
            <a:pPr algn="ctr"/>
            <a:endParaRPr lang="en-GB" sz="4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5838" y="1484784"/>
            <a:ext cx="4975225" cy="971980"/>
          </a:xfrm>
        </p:spPr>
        <p:txBody>
          <a:bodyPr anchor="b" anchorCtr="0"/>
          <a:lstStyle>
            <a:lvl1pPr>
              <a:lnSpc>
                <a:spcPct val="95000"/>
              </a:lnSpc>
              <a:defRPr sz="3000">
                <a:latin typeface="+mn-lt"/>
              </a:defRPr>
            </a:lvl1pPr>
          </a:lstStyle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85838" y="3010711"/>
            <a:ext cx="4975225" cy="1858449"/>
          </a:xfrm>
        </p:spPr>
        <p:txBody>
          <a:bodyPr/>
          <a:lstStyle>
            <a:lvl1pPr marL="0" indent="0">
              <a:buFont typeface="Calibri" panose="020F0502020204030204" pitchFamily="34" charset="0"/>
              <a:buChar char="​"/>
              <a:defRPr/>
            </a:lvl1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r>
              <a:rPr lang="en-GB" dirty="0"/>
              <a:t>6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15913"/>
            <a:ext cx="5644800" cy="5583600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-1973598" y="1780882"/>
            <a:ext cx="18258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Overskrift to</a:t>
            </a:r>
            <a:r>
              <a:rPr lang="en-GB" sz="1000" baseline="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 linjer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5" name="Date Placeholder 4" hidden="1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6" name="Footer Placeholder 5" hidden="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31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30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3069" userDrawn="1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115596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761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7004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4" userDrawn="1">
          <p15:clr>
            <a:srgbClr val="A4A3A4"/>
          </p15:clr>
        </p15:guide>
        <p15:guide id="2" pos="3754" userDrawn="1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"/>
          <p:cNvSpPr>
            <a:spLocks noGrp="1"/>
          </p:cNvSpPr>
          <p:nvPr>
            <p:ph type="pic" sz="quarter" idx="11" hasCustomPrompt="1"/>
          </p:nvPr>
        </p:nvSpPr>
        <p:spPr>
          <a:xfrm>
            <a:off x="316800" y="316800"/>
            <a:ext cx="5644800" cy="26532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3" hasCustomPrompt="1"/>
          </p:nvPr>
        </p:nvSpPr>
        <p:spPr>
          <a:xfrm>
            <a:off x="3168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5" name="Picture Placeholder 3"/>
          <p:cNvSpPr>
            <a:spLocks noGrp="1"/>
          </p:cNvSpPr>
          <p:nvPr>
            <p:ph type="pic" sz="quarter" idx="12" hasCustomPrompt="1"/>
          </p:nvPr>
        </p:nvSpPr>
        <p:spPr>
          <a:xfrm>
            <a:off x="6231600" y="316800"/>
            <a:ext cx="5644800" cy="55836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0751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/>
          <p:cNvSpPr>
            <a:spLocks noGrp="1"/>
          </p:cNvSpPr>
          <p:nvPr>
            <p:ph type="pic" sz="quarter" idx="12" hasCustomPrompt="1"/>
          </p:nvPr>
        </p:nvSpPr>
        <p:spPr>
          <a:xfrm>
            <a:off x="316800" y="316800"/>
            <a:ext cx="5644800" cy="5583600"/>
          </a:xfrm>
          <a:solidFill>
            <a:schemeClr val="bg1"/>
          </a:solidFill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1" hasCustomPrompt="1"/>
          </p:nvPr>
        </p:nvSpPr>
        <p:spPr>
          <a:xfrm>
            <a:off x="6231600" y="316800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7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6231600" y="3237372"/>
            <a:ext cx="5644800" cy="2653200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 hidden="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9" name="Footer Placeholder 8" hidden="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35702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22" userDrawn="1">
          <p15:clr>
            <a:srgbClr val="A4A3A4"/>
          </p15:clr>
        </p15:guide>
        <p15:guide id="2" pos="3755" userDrawn="1">
          <p15:clr>
            <a:srgbClr val="A4A3A4"/>
          </p15:clr>
        </p15:guide>
        <p15:guide id="3" orient="horz" pos="2039" userDrawn="1">
          <p15:clr>
            <a:srgbClr val="A4A3A4"/>
          </p15:clr>
        </p15:guide>
        <p15:guide id="4" orient="horz" pos="1872" userDrawn="1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1" hasCustomPrompt="1"/>
          </p:nvPr>
        </p:nvSpPr>
        <p:spPr>
          <a:xfrm>
            <a:off x="315913" y="315913"/>
            <a:ext cx="11557000" cy="6220354"/>
          </a:xfrm>
        </p:spPr>
        <p:txBody>
          <a:bodyPr/>
          <a:lstStyle>
            <a:lvl1pPr marL="0" indent="0">
              <a:buFontTx/>
              <a:buNone/>
              <a:defRPr b="0"/>
            </a:lvl1pPr>
          </a:lstStyle>
          <a:p>
            <a:r>
              <a:rPr lang="en-GB" dirty="0"/>
              <a:t>Click here and add image via Templafy Image Library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4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49476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Text Placeholder 61"/>
          <p:cNvSpPr>
            <a:spLocks noGrp="1"/>
          </p:cNvSpPr>
          <p:nvPr>
            <p:ph type="body" sz="quarter" idx="16" hasCustomPrompt="1"/>
          </p:nvPr>
        </p:nvSpPr>
        <p:spPr>
          <a:xfrm>
            <a:off x="1845940" y="1412776"/>
            <a:ext cx="8496944" cy="3744416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algn="ctr">
              <a:buFontTx/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6140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and 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vid baggrund"/>
          <p:cNvSpPr/>
          <p:nvPr userDrawn="1"/>
        </p:nvSpPr>
        <p:spPr bwMode="auto">
          <a:xfrm>
            <a:off x="0" y="0"/>
            <a:ext cx="12188825" cy="5897563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15913" y="230400"/>
            <a:ext cx="11563200" cy="752400"/>
          </a:xfrm>
        </p:spPr>
        <p:txBody>
          <a:bodyPr anchor="t" anchorCtr="0"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2998068" y="1853461"/>
            <a:ext cx="6264696" cy="2725288"/>
          </a:xfrm>
        </p:spPr>
        <p:txBody>
          <a:bodyPr/>
          <a:lstStyle>
            <a:lvl1pPr marL="432000" indent="-432000" algn="ctr">
              <a:lnSpc>
                <a:spcPct val="107000"/>
              </a:lnSpc>
              <a:buSzPct val="250000"/>
              <a:buFontTx/>
              <a:buBlip>
                <a:blip r:embed="rId2"/>
              </a:buBlip>
              <a:defRPr sz="2800">
                <a:latin typeface="Georgia" panose="02040502050405020303" pitchFamily="18" charset="0"/>
              </a:defRPr>
            </a:lvl1pPr>
            <a:lvl2pPr marL="216000" indent="-216000" algn="ctr">
              <a:lnSpc>
                <a:spcPct val="99000"/>
              </a:lnSpc>
              <a:buFont typeface="Arial" panose="020B0604020202020204" pitchFamily="34" charset="0"/>
              <a:buChar char="-"/>
              <a:defRPr sz="2000" cap="all" baseline="0">
                <a:latin typeface="Georgia" panose="02040502050405020303" pitchFamily="18" charset="0"/>
              </a:defRPr>
            </a:lvl2pPr>
            <a:lvl3pPr marL="576000" indent="0">
              <a:buNone/>
              <a:defRPr/>
            </a:lvl3pPr>
          </a:lstStyle>
          <a:p>
            <a:pPr lvl="0"/>
            <a:r>
              <a:rPr lang="en-GB" dirty="0"/>
              <a:t>Click to add Quote text, for next level ENTER and TAB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10" name="Footer Placeholder 9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515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slid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1"/>
          <p:cNvSpPr>
            <a:spLocks noGrp="1"/>
          </p:cNvSpPr>
          <p:nvPr>
            <p:ph sz="quarter" idx="12"/>
          </p:nvPr>
        </p:nvSpPr>
        <p:spPr>
          <a:xfrm>
            <a:off x="328613" y="328612"/>
            <a:ext cx="11550650" cy="62134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6" name="Date Placeholder 5" hidden="1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1562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6" name="TextBox 5"/>
          <p:cNvSpPr txBox="1"/>
          <p:nvPr userDrawn="1"/>
        </p:nvSpPr>
        <p:spPr>
          <a:xfrm>
            <a:off x="-2160355" y="1022476"/>
            <a:ext cx="2012649" cy="47342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Ændr 2. linje i overskriften </a:t>
            </a:r>
            <a:b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sz="1000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til AU Passata Light</a:t>
            </a:r>
            <a:endParaRPr lang="en-GB" sz="4799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7" name="Date Placeholder 6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8" name="Footer Placeholder 7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 bwMode="auto">
          <a:xfrm>
            <a:off x="765820" y="1340768"/>
            <a:ext cx="1224136" cy="504056"/>
          </a:xfrm>
          <a:prstGeom prst="rect">
            <a:avLst/>
          </a:prstGeom>
          <a:solidFill>
            <a:schemeClr val="bg1"/>
          </a:solidFill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807992" y="6581497"/>
            <a:ext cx="252000" cy="153888"/>
          </a:xfrm>
        </p:spPr>
        <p:txBody>
          <a:bodyPr/>
          <a:lstStyle/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Log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pic>
        <p:nvPicPr>
          <p:cNvPr id="6" name="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8776" y="2163364"/>
            <a:ext cx="2531272" cy="2531272"/>
          </a:xfrm>
          <a:prstGeom prst="rect">
            <a:avLst/>
          </a:prstGeom>
        </p:spPr>
      </p:pic>
      <p:sp>
        <p:nvSpPr>
          <p:cNvPr id="5" name="Date Placeholder 4" hidden="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7" name="Footer Placeholder 6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7440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34" name="Pladsholder til tekst 2"/>
          <p:cNvSpPr txBox="1">
            <a:spLocks/>
          </p:cNvSpPr>
          <p:nvPr userDrawn="1"/>
        </p:nvSpPr>
        <p:spPr>
          <a:xfrm>
            <a:off x="1090914" y="2098689"/>
            <a:ext cx="12745416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>
                <a:solidFill>
                  <a:schemeClr val="accent6"/>
                </a:solidFill>
                <a:latin typeface="AU Peto" panose="040C0B07020602020301" pitchFamily="82" charset="0"/>
              </a:rPr>
              <a:t>Aarhus</a:t>
            </a:r>
            <a:endParaRPr lang="en-GB"/>
          </a:p>
        </p:txBody>
      </p:sp>
      <p:sp>
        <p:nvSpPr>
          <p:cNvPr id="6" name="Pladsholder til tekst 2"/>
          <p:cNvSpPr txBox="1">
            <a:spLocks/>
          </p:cNvSpPr>
          <p:nvPr userDrawn="1"/>
        </p:nvSpPr>
        <p:spPr>
          <a:xfrm>
            <a:off x="7439540" y="2093600"/>
            <a:ext cx="4356484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uni</a:t>
            </a:r>
            <a:endParaRPr lang="en-GB" sz="10000" kern="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7" name="Pladsholder til tekst 2"/>
          <p:cNvSpPr txBox="1">
            <a:spLocks/>
          </p:cNvSpPr>
          <p:nvPr userDrawn="1"/>
        </p:nvSpPr>
        <p:spPr>
          <a:xfrm>
            <a:off x="1881492" y="3428550"/>
            <a:ext cx="9289032" cy="1329861"/>
          </a:xfrm>
          <a:prstGeom prst="rect">
            <a:avLst/>
          </a:prstGeom>
        </p:spPr>
        <p:txBody>
          <a:bodyPr wrap="square" lIns="0" tIns="0" rIns="0" bIns="21600">
            <a:spAutoFit/>
          </a:bodyPr>
          <a:lstStyle>
            <a:lvl1pPr marL="0" indent="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None/>
              <a:defRPr sz="2200">
                <a:solidFill>
                  <a:schemeClr val="bg1"/>
                </a:solidFill>
                <a:latin typeface="AU Peto" panose="040C0B07020602020301" pitchFamily="82" charset="0"/>
                <a:ea typeface="AU Peto" panose="040C0B07020602020301" pitchFamily="82" charset="0"/>
                <a:cs typeface="+mn-cs"/>
              </a:defRPr>
            </a:lvl1pPr>
            <a:lvl2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2pPr>
            <a:lvl3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3pPr>
            <a:lvl4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4pPr>
            <a:lvl5pPr marL="324000" indent="-324000" algn="l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accent3"/>
              </a:buClr>
              <a:buSzPct val="75000"/>
              <a:buFont typeface="Wingdings 3" pitchFamily="18" charset="2"/>
              <a:buChar char="u"/>
              <a:defRPr sz="1600">
                <a:solidFill>
                  <a:srgbClr val="000000"/>
                </a:solidFill>
                <a:latin typeface="+mn-lt"/>
              </a:defRPr>
            </a:lvl5pPr>
            <a:lvl6pPr marL="13525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6pPr>
            <a:lvl7pPr marL="18097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7pPr>
            <a:lvl8pPr marL="22669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8pPr>
            <a:lvl9pPr marL="2724150" indent="-176213" algn="l" rtl="0" eaLnBrk="1" fontAlgn="base" hangingPunct="1">
              <a:lnSpc>
                <a:spcPct val="99000"/>
              </a:lnSpc>
              <a:spcBef>
                <a:spcPct val="20000"/>
              </a:spcBef>
              <a:spcAft>
                <a:spcPct val="0"/>
              </a:spcAft>
              <a:buFont typeface="AU Passata" pitchFamily="34" charset="0"/>
              <a:buChar char="›"/>
              <a:defRPr sz="1600">
                <a:solidFill>
                  <a:schemeClr val="bg2"/>
                </a:solidFill>
                <a:latin typeface="+mn-lt"/>
              </a:defRPr>
            </a:lvl9pPr>
          </a:lstStyle>
          <a:p>
            <a:pPr algn="ctr">
              <a:lnSpc>
                <a:spcPct val="85000"/>
              </a:lnSpc>
            </a:pPr>
            <a:r>
              <a:rPr lang="en-GB" sz="10000" kern="0" dirty="0" err="1">
                <a:solidFill>
                  <a:schemeClr val="bg1"/>
                </a:solidFill>
                <a:latin typeface="AU Peto" panose="040C0B07020602020301" pitchFamily="82" charset="0"/>
              </a:rPr>
              <a:t>versiet</a:t>
            </a:r>
            <a:endParaRPr lang="en-GB" sz="10000" dirty="0">
              <a:solidFill>
                <a:schemeClr val="bg1"/>
              </a:solidFill>
              <a:latin typeface="AU Peto" panose="040C0B07020602020301" pitchFamily="82" charset="0"/>
            </a:endParaRPr>
          </a:p>
        </p:txBody>
      </p:sp>
      <p:sp>
        <p:nvSpPr>
          <p:cNvPr id="8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62406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Aarhus Universit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arvet baggrund"/>
          <p:cNvSpPr/>
          <p:nvPr userDrawn="1"/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4799" dirty="0"/>
          </a:p>
        </p:txBody>
      </p:sp>
      <p:sp>
        <p:nvSpPr>
          <p:cNvPr id="5" name="LAN_AUWBreak"/>
          <p:cNvSpPr/>
          <p:nvPr userDrawn="1"/>
        </p:nvSpPr>
        <p:spPr bwMode="auto">
          <a:xfrm>
            <a:off x="6022613" y="2804400"/>
            <a:ext cx="65" cy="757567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183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r>
              <a:rPr kumimoji="0" lang="en-GB" sz="4000" b="0" i="0" u="none" strike="noStrike" cap="all" normalizeH="0" baseline="0" noProof="1">
                <a:ln>
                  <a:noFill/>
                </a:ln>
                <a:solidFill>
                  <a:schemeClr val="bg1"/>
                </a:solidFill>
                <a:effectLst/>
                <a:latin typeface="AU Passata" pitchFamily="34" charset="0"/>
              </a:rPr>
              <a:t>Aarhus
University</a:t>
            </a:r>
          </a:p>
        </p:txBody>
      </p:sp>
      <p:pic>
        <p:nvPicPr>
          <p:cNvPr id="6" name="Logo whit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268" y="2864711"/>
            <a:ext cx="2228400" cy="1116990"/>
          </a:xfrm>
          <a:prstGeom prst="rect">
            <a:avLst/>
          </a:prstGeom>
        </p:spPr>
      </p:pic>
      <p:sp>
        <p:nvSpPr>
          <p:cNvPr id="7" name="Date Placeholder 4" hidden="1"/>
          <p:cNvSpPr>
            <a:spLocks noGrp="1"/>
          </p:cNvSpPr>
          <p:nvPr>
            <p:ph type="dt" sz="half" idx="10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9" name="Footer Placeholder 6" hidden="1"/>
          <p:cNvSpPr>
            <a:spLocks noGrp="1"/>
          </p:cNvSpPr>
          <p:nvPr>
            <p:ph type="ftr" sz="quarter" idx="11"/>
          </p:nvPr>
        </p:nvSpPr>
        <p:spPr>
          <a:xfrm>
            <a:off x="0" y="7020000"/>
            <a:ext cx="0" cy="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lide Number Placeholder 8" hidden="1"/>
          <p:cNvSpPr>
            <a:spLocks noGrp="1"/>
          </p:cNvSpPr>
          <p:nvPr>
            <p:ph type="sldNum" sz="quarter" idx="12"/>
          </p:nvPr>
        </p:nvSpPr>
        <p:spPr>
          <a:xfrm>
            <a:off x="0" y="7020000"/>
            <a:ext cx="0" cy="461665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88966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3F70A-53D6-335F-DC39-69833BC8E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0825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FE1E8-6A54-3CDD-C426-5F8B49B3F8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0825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FEDEB-F110-B089-BEFC-F34983937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71D8-949C-C743-AD00-8DE9215203E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71CC3-364F-DC2A-E2EA-4AD95F353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123A2-F226-89D6-7BFD-719A535A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55AED-1CC4-A649-AC04-B1EC2FE56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922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9CAD1-F39F-5267-DB4B-6840FF588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15E3B-9F4F-BAB0-B9B8-7906126DD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C98CF-8E3A-AA06-5781-DABD491FE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71D8-949C-C743-AD00-8DE9215203E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F4DBB-28F2-C16E-0DCA-2CD5EC4FB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02C0-1597-207F-5618-596041A6C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55AED-1CC4-A649-AC04-B1EC2FE56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658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5F194-3EF0-E586-683C-21EE7F560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24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A3B59A-9D16-3440-3B01-2900877F2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24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C401F-13E1-5427-ED30-97D47B37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71D8-949C-C743-AD00-8DE9215203E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7987D-06D2-6B73-EF85-ECAD3F29C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936B2-C00F-C230-713C-79CA4C9C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55AED-1CC4-A649-AC04-B1EC2FE56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496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A4A75-7C9C-7791-63E6-D262F8477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4B0E0-E44A-8E2F-3BAD-768CE90DA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0013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D39C9F-21C6-3261-1224-7F22F21B7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0613" y="1825625"/>
            <a:ext cx="51800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92BF80-F44A-6BFC-4B9C-145C1250D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71D8-949C-C743-AD00-8DE9215203E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AC0A6-AB17-D05A-0D65-A5E60B801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CD0A7A-9907-9589-C5BD-20D2BC89A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55AED-1CC4-A649-AC04-B1EC2FE56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761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0447-B949-D95E-6261-7170A7FE4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24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37C7C-993E-6779-8EDF-C23B7E0A9D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62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4BFDC-1DB2-B05F-8C67-1A4E6DD57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62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7865AF-892E-9481-F832-18CBE4AB66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0613" y="1681163"/>
            <a:ext cx="51816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D5B8E9-4625-EAD4-D793-4C54AD240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0613" y="2505075"/>
            <a:ext cx="51816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4A6B50-1192-0DFC-4408-01473AA8F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71D8-949C-C743-AD00-8DE9215203E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F9D7C4-DF28-EA05-0B39-1F1F0F23F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89238E-0831-50DC-D365-E9AA13B18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55AED-1CC4-A649-AC04-B1EC2FE56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76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00FD-A1B9-014C-7FBF-F6B9ACF2E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66AE05-6418-C062-74AE-BEF504AE5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71D8-949C-C743-AD00-8DE9215203E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63F46A-6ECF-9533-B902-B563A408C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B800C-C397-840F-84DE-2A03A75DB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55AED-1CC4-A649-AC04-B1EC2FE56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81207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4643D5-8D7D-A91C-25B3-4D9BC184F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71D8-949C-C743-AD00-8DE9215203E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93BCE9-37AE-3825-926B-478ACF685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84018-8879-81A3-C0AF-DECA704BC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55AED-1CC4-A649-AC04-B1EC2FE56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39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6E49-453C-9557-D303-E039C7611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06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FE6B6-19B8-FA21-2E5C-CD3C952FD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0" y="987425"/>
            <a:ext cx="61706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A047E-FBBD-1991-86DB-D443D3320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06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0C026-C9A0-C03E-44B9-6DE5D6743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71D8-949C-C743-AD00-8DE9215203E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E14486-74BC-FED7-05CF-6AAAC5105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92E806-61CB-9C92-9C11-B9017B34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55AED-1CC4-A649-AC04-B1EC2FE56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7967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14F3-EBD5-1583-ABE6-92C55510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065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54154-4BE8-6B13-F412-A3F5A767D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1600" y="987425"/>
            <a:ext cx="61706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B3AC44-176C-8E24-2228-A5AC2BD3F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065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8CE0F-0E3C-86CE-4592-7ED50A881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71D8-949C-C743-AD00-8DE9215203E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9EA7FF-31A1-3E5E-71AC-87B9C82AC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E92038-4444-CCD9-090D-F30D7156C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55AED-1CC4-A649-AC04-B1EC2FE56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834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73CC-8119-A52E-2085-F370AECA7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CBBF7-E020-B9BE-FF8D-ED4EAB359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8D4F0-8F10-9BA6-D829-41D7D442B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71D8-949C-C743-AD00-8DE9215203E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B74F-01FA-4A75-27BB-2D7860900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C340E-2E9A-5D6B-CE8E-89366888E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55AED-1CC4-A649-AC04-B1EC2FE56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60065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A53F2A-11C6-0E63-685F-F3FB7B7313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3313" y="365125"/>
            <a:ext cx="262731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F6C35-CFCC-94F6-B359-C99AB181D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2713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BAAEF-3863-8908-88D2-68A08A618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471D8-949C-C743-AD00-8DE9215203E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B729FD-BCC1-40DD-20E5-FDE8C1DC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E1E22-74E1-F912-576E-E2745271E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55AED-1CC4-A649-AC04-B1EC2FE56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750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Placeholder title 1"/>
          <p:cNvSpPr>
            <a:spLocks noGrp="1" noChangeArrowheads="1"/>
          </p:cNvSpPr>
          <p:nvPr>
            <p:ph type="title"/>
          </p:nvPr>
        </p:nvSpPr>
        <p:spPr bwMode="auto">
          <a:xfrm>
            <a:off x="315913" y="149115"/>
            <a:ext cx="11557000" cy="1309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028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85838" y="1960079"/>
            <a:ext cx="10220325" cy="39374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dirty="0"/>
              <a:t>Click to edit Master text styles</a:t>
            </a:r>
            <a:endParaRPr lang="en-GB"/>
          </a:p>
          <a:p>
            <a:pPr lvl="1"/>
            <a:r>
              <a:rPr lang="en-GB" noProof="0" dirty="0"/>
              <a:t>Second level</a:t>
            </a:r>
            <a:endParaRPr lang="en-GB"/>
          </a:p>
          <a:p>
            <a:pPr lvl="2"/>
            <a:r>
              <a:rPr lang="en-GB" noProof="0" dirty="0"/>
              <a:t>Third level</a:t>
            </a:r>
            <a:endParaRPr lang="en-GB"/>
          </a:p>
          <a:p>
            <a:pPr lvl="3"/>
            <a:r>
              <a:rPr lang="en-GB" noProof="0" dirty="0"/>
              <a:t>Fourth level</a:t>
            </a:r>
            <a:endParaRPr lang="en-GB"/>
          </a:p>
          <a:p>
            <a:pPr lvl="4"/>
            <a:r>
              <a:rPr lang="en-GB" noProof="0" dirty="0"/>
              <a:t>Fifth level</a:t>
            </a:r>
            <a:endParaRPr lang="en-GB"/>
          </a:p>
          <a:p>
            <a:pPr lvl="5"/>
            <a:r>
              <a:rPr lang="en-GB" noProof="0" dirty="0"/>
              <a:t>6 level</a:t>
            </a:r>
            <a:endParaRPr lang="en-GB"/>
          </a:p>
          <a:p>
            <a:pPr lvl="6"/>
            <a:r>
              <a:rPr lang="en-GB" noProof="0" dirty="0"/>
              <a:t>7 level</a:t>
            </a:r>
            <a:endParaRPr lang="en-GB"/>
          </a:p>
          <a:p>
            <a:pPr lvl="7"/>
            <a:r>
              <a:rPr lang="en-GB" noProof="0" dirty="0"/>
              <a:t>8 level</a:t>
            </a:r>
            <a:endParaRPr lang="en-GB"/>
          </a:p>
          <a:p>
            <a:pPr lvl="8"/>
            <a:r>
              <a:rPr lang="en-GB" noProof="0" dirty="0"/>
              <a:t>9 level</a:t>
            </a:r>
            <a:endParaRPr lang="en-GB"/>
          </a:p>
        </p:txBody>
      </p:sp>
      <p:sp>
        <p:nvSpPr>
          <p:cNvPr id="33" name="SecondaryLogo_sort"/>
          <p:cNvSpPr>
            <a:spLocks noChangeArrowheads="1"/>
          </p:cNvSpPr>
          <p:nvPr/>
        </p:nvSpPr>
        <p:spPr bwMode="auto">
          <a:xfrm>
            <a:off x="10206000" y="5999002"/>
            <a:ext cx="1666800" cy="558000"/>
          </a:xfrm>
          <a:prstGeom prst="rect">
            <a:avLst/>
          </a:prstGeom>
          <a:solidFill>
            <a:schemeClr val="bg1">
              <a:alpha val="0"/>
            </a:schemeClr>
          </a:solidFill>
          <a:ln w="1778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>
              <a:defRPr/>
            </a:pPr>
            <a:endParaRPr lang="en-GB" sz="700" b="0" dirty="0">
              <a:latin typeface="+mn-lt"/>
            </a:endParaRPr>
          </a:p>
        </p:txBody>
      </p:sp>
      <p:sp>
        <p:nvSpPr>
          <p:cNvPr id="19" name="FLD_Event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4476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3420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endParaRPr lang="en-GB" sz="700" b="0" cap="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1" name="USR_Nam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444040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3420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Jasper Hof</a:t>
            </a:r>
          </a:p>
        </p:txBody>
      </p:sp>
      <p:sp>
        <p:nvSpPr>
          <p:cNvPr id="27" name="Date_DateCustomA"/>
          <p:cNvSpPr txBox="1">
            <a:spLocks noChangeArrowheads="1"/>
          </p:cNvSpPr>
          <p:nvPr userDrawn="1"/>
        </p:nvSpPr>
        <p:spPr bwMode="auto">
          <a:xfrm>
            <a:off x="3691333" y="5997600"/>
            <a:ext cx="2271840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475200" rIns="0" bIns="0" anchor="t" anchorCtr="0">
            <a:spAutoFit/>
          </a:bodyPr>
          <a:lstStyle/>
          <a:p>
            <a:pPr algn="r">
              <a:lnSpc>
                <a:spcPct val="95000"/>
              </a:lnSpc>
              <a:defRPr/>
            </a:pPr>
            <a:r>
              <a:rPr lang="en-GB" sz="700" b="0" kern="1200" cap="all" baseline="0" dirty="0">
                <a:solidFill>
                  <a:schemeClr val="tx1"/>
                </a:solidFill>
                <a:latin typeface="AU Passata" pitchFamily="34" charset="0"/>
                <a:ea typeface="+mn-ea"/>
                <a:cs typeface="+mn-cs"/>
              </a:rPr>
              <a:t>3 </a:t>
            </a:r>
            <a:r>
              <a:rPr lang="en-GB" sz="700" b="0" kern="1200" cap="all" baseline="0" dirty="0" err="1">
                <a:solidFill>
                  <a:schemeClr val="tx1"/>
                </a:solidFill>
                <a:latin typeface="AU Passata" pitchFamily="34" charset="0"/>
                <a:ea typeface="+mn-ea"/>
                <a:cs typeface="+mn-cs"/>
              </a:rPr>
              <a:t>october</a:t>
            </a:r>
            <a:r>
              <a:rPr lang="en-GB" sz="700" b="0" kern="1200" cap="all" baseline="0" dirty="0">
                <a:solidFill>
                  <a:schemeClr val="tx1"/>
                </a:solidFill>
                <a:latin typeface="AU Passata" pitchFamily="34" charset="0"/>
                <a:ea typeface="+mn-ea"/>
                <a:cs typeface="+mn-cs"/>
              </a:rPr>
              <a:t> 2026</a:t>
            </a:r>
          </a:p>
        </p:txBody>
      </p:sp>
      <p:sp>
        <p:nvSpPr>
          <p:cNvPr id="28" name="USR_Title"/>
          <p:cNvSpPr txBox="1">
            <a:spLocks noChangeArrowheads="1"/>
          </p:cNvSpPr>
          <p:nvPr userDrawn="1"/>
        </p:nvSpPr>
        <p:spPr bwMode="auto">
          <a:xfrm>
            <a:off x="6240044" y="5997600"/>
            <a:ext cx="2982416" cy="582176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lIns="0" tIns="475200" rIns="0" bIns="0" anchor="t" anchorCtr="0">
            <a:spAutoFit/>
          </a:bodyPr>
          <a:lstStyle/>
          <a:p>
            <a:pPr algn="l">
              <a:lnSpc>
                <a:spcPct val="95000"/>
              </a:lnSpc>
              <a:defRPr/>
            </a:pPr>
            <a:r>
              <a:rPr lang="en-GB" sz="700" b="0" cap="all" baseline="0" dirty="0">
                <a:solidFill>
                  <a:schemeClr val="tx1"/>
                </a:solidFill>
                <a:latin typeface="+mn-lt"/>
              </a:rPr>
              <a:t>Postdoc</a:t>
            </a:r>
          </a:p>
        </p:txBody>
      </p:sp>
      <p:pic>
        <p:nvPicPr>
          <p:cNvPr id="7" name="Au logo"/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400" y="5999002"/>
            <a:ext cx="557570" cy="558000"/>
          </a:xfrm>
          <a:prstGeom prst="rect">
            <a:avLst/>
          </a:prstGeom>
        </p:spPr>
      </p:pic>
      <p:pic>
        <p:nvPicPr>
          <p:cNvPr id="10" name="Billede streg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3200" y="5997600"/>
            <a:ext cx="71734" cy="558000"/>
          </a:xfrm>
          <a:prstGeom prst="rect">
            <a:avLst/>
          </a:prstGeom>
        </p:spPr>
      </p:pic>
      <p:sp>
        <p:nvSpPr>
          <p:cNvPr id="25" name="OFF_logo2Computed"/>
          <p:cNvSpPr txBox="1">
            <a:spLocks noChangeArrowheads="1"/>
          </p:cNvSpPr>
          <p:nvPr userDrawn="1"/>
        </p:nvSpPr>
        <p:spPr bwMode="auto">
          <a:xfrm>
            <a:off x="972000" y="5997600"/>
            <a:ext cx="2350045" cy="676612"/>
          </a:xfrm>
          <a:prstGeom prst="rect">
            <a:avLst/>
          </a:prstGeom>
          <a:noFill/>
          <a:ln w="1778" algn="ctr">
            <a:noFill/>
            <a:miter lim="800000"/>
            <a:headEnd/>
            <a:tailEnd/>
          </a:ln>
          <a:effectLst/>
        </p:spPr>
        <p:txBody>
          <a:bodyPr wrap="square" lIns="0" tIns="583200" rIns="0" bIns="0">
            <a:spAutoFit/>
          </a:bodyPr>
          <a:lstStyle/>
          <a:p>
            <a:pPr>
              <a:lnSpc>
                <a:spcPct val="95000"/>
              </a:lnSpc>
              <a:defRPr/>
            </a:pPr>
            <a:endParaRPr lang="en-GB" sz="600" cap="all" spc="40" baseline="0" dirty="0">
              <a:solidFill>
                <a:schemeClr val="tx1"/>
              </a:solidFill>
              <a:latin typeface="AU Passata Light" pitchFamily="34" charset="0"/>
            </a:endParaRPr>
          </a:p>
        </p:txBody>
      </p:sp>
      <p:sp>
        <p:nvSpPr>
          <p:cNvPr id="26" name="OFF_logo1Computed"/>
          <p:cNvSpPr/>
          <p:nvPr userDrawn="1"/>
        </p:nvSpPr>
        <p:spPr bwMode="auto">
          <a:xfrm>
            <a:off x="971999" y="5997600"/>
            <a:ext cx="65" cy="451123"/>
          </a:xfrm>
          <a:prstGeom prst="rect">
            <a:avLst/>
          </a:prstGeom>
          <a:noFill/>
          <a:ln w="1778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0" tIns="30960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GB" sz="1000" b="0" i="0" u="none" strike="noStrike" cap="all" normalizeH="0" baseline="0" noProof="1">
              <a:ln>
                <a:noFill/>
              </a:ln>
              <a:solidFill>
                <a:schemeClr val="tx1"/>
              </a:solidFill>
              <a:effectLst/>
              <a:latin typeface="AU Passata" pitchFamily="34" charset="0"/>
            </a:endParaRPr>
          </a:p>
        </p:txBody>
      </p:sp>
      <p:sp>
        <p:nvSpPr>
          <p:cNvPr id="1030" name="Sidetal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807992" y="6581497"/>
            <a:ext cx="252000" cy="13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lnSpc>
                <a:spcPts val="1200"/>
              </a:lnSpc>
              <a:buFontTx/>
              <a:buNone/>
              <a:defRPr sz="700" spc="4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E90C1E0A-682D-40DC-B1EA-26C007FDC330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" name="Date Placeholder 1" hidden="1"/>
          <p:cNvSpPr>
            <a:spLocks noGrp="1"/>
          </p:cNvSpPr>
          <p:nvPr>
            <p:ph type="dt" sz="half" idx="2"/>
          </p:nvPr>
        </p:nvSpPr>
        <p:spPr>
          <a:xfrm>
            <a:off x="0" y="7020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78417F83-4CBA-48F2-BAD0-783AE3701E32}" type="datetimeFigureOut">
              <a:rPr lang="en-GB" smtClean="0"/>
              <a:pPr/>
              <a:t>23/09/2026</a:t>
            </a:fld>
            <a:r>
              <a:rPr lang="en-GB"/>
              <a:t>29/04/2025</a:t>
            </a:r>
          </a:p>
        </p:txBody>
      </p:sp>
      <p:sp>
        <p:nvSpPr>
          <p:cNvPr id="3" name="Footer Placeholder 2" hidden="1"/>
          <p:cNvSpPr>
            <a:spLocks noGrp="1"/>
          </p:cNvSpPr>
          <p:nvPr>
            <p:ph type="ftr" sz="quarter" idx="3"/>
          </p:nvPr>
        </p:nvSpPr>
        <p:spPr>
          <a:xfrm>
            <a:off x="0" y="7020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>
                <a:noFill/>
              </a:defRPr>
            </a:lvl1pPr>
          </a:lstStyle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6" r:id="rId2"/>
    <p:sldLayoutId id="2147483673" r:id="rId3"/>
    <p:sldLayoutId id="2147483666" r:id="rId4"/>
    <p:sldLayoutId id="2147483662" r:id="rId5"/>
    <p:sldLayoutId id="2147483649" r:id="rId6"/>
    <p:sldLayoutId id="2147483669" r:id="rId7"/>
    <p:sldLayoutId id="2147483661" r:id="rId8"/>
    <p:sldLayoutId id="2147483668" r:id="rId9"/>
    <p:sldLayoutId id="2147483663" r:id="rId10"/>
    <p:sldLayoutId id="2147483670" r:id="rId11"/>
    <p:sldLayoutId id="2147483654" r:id="rId12"/>
    <p:sldLayoutId id="2147483664" r:id="rId13"/>
    <p:sldLayoutId id="2147483671" r:id="rId14"/>
    <p:sldLayoutId id="2147483650" r:id="rId15"/>
    <p:sldLayoutId id="2147483655" r:id="rId16"/>
    <p:sldLayoutId id="2147483651" r:id="rId17"/>
    <p:sldLayoutId id="2147483672" r:id="rId18"/>
    <p:sldLayoutId id="2147483678" r:id="rId19"/>
    <p:sldLayoutId id="2147483658" r:id="rId20"/>
  </p:sldLayoutIdLst>
  <p:hf sldNum="0" hdr="0" ftr="0"/>
  <p:txStyles>
    <p:titleStyle>
      <a:lvl1pPr algn="l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4500" b="1" cap="all" baseline="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2pPr>
      <a:lvl3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3pPr>
      <a:lvl4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4pPr>
      <a:lvl5pPr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5pPr>
      <a:lvl6pPr marL="4572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6pPr>
      <a:lvl7pPr marL="9144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7pPr>
      <a:lvl8pPr marL="13716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8pPr>
      <a:lvl9pPr marL="1828800" algn="l" rtl="0" eaLnBrk="1" fontAlgn="base" hangingPunct="1">
        <a:lnSpc>
          <a:spcPct val="83000"/>
        </a:lnSpc>
        <a:spcBef>
          <a:spcPct val="0"/>
        </a:spcBef>
        <a:spcAft>
          <a:spcPct val="0"/>
        </a:spcAft>
        <a:defRPr sz="4000">
          <a:solidFill>
            <a:schemeClr val="bg2"/>
          </a:solidFill>
          <a:latin typeface="AU Passata" pitchFamily="34" charset="0"/>
        </a:defRPr>
      </a:lvl9pPr>
    </p:titleStyle>
    <p:bodyStyle>
      <a:lvl1pPr marL="0" indent="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Calibri" panose="020F0502020204030204" pitchFamily="34" charset="0"/>
        <a:buChar char="​"/>
        <a:defRPr sz="2000" b="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75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3pPr>
      <a:lvl4pPr marL="115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4pPr>
      <a:lvl5pPr marL="1512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5pPr>
      <a:lvl6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6pPr>
      <a:lvl7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7pPr>
      <a:lvl8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8pPr>
      <a:lvl9pPr marL="1836000" indent="-180000" algn="l" rtl="0" eaLnBrk="1" fontAlgn="base" hangingPunct="1">
        <a:lnSpc>
          <a:spcPct val="99000"/>
        </a:lnSpc>
        <a:spcBef>
          <a:spcPts val="6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3715" userDrawn="1">
          <p15:clr>
            <a:srgbClr val="000000"/>
          </p15:clr>
        </p15:guide>
        <p15:guide id="5" orient="horz" pos="4131" userDrawn="1">
          <p15:clr>
            <a:srgbClr val="A4A3A4"/>
          </p15:clr>
        </p15:guide>
        <p15:guide id="6" pos="7479" userDrawn="1">
          <p15:clr>
            <a:srgbClr val="A4A3A4"/>
          </p15:clr>
        </p15:guide>
        <p15:guide id="7" orient="horz" pos="1234" userDrawn="1">
          <p15:clr>
            <a:srgbClr val="000000"/>
          </p15:clr>
        </p15:guide>
        <p15:guide id="8" pos="7059" userDrawn="1">
          <p15:clr>
            <a:srgbClr val="000000"/>
          </p15:clr>
        </p15:guide>
        <p15:guide id="9" pos="199" userDrawn="1">
          <p15:clr>
            <a:srgbClr val="A4A3A4"/>
          </p15:clr>
        </p15:guide>
        <p15:guide id="10" pos="621" userDrawn="1">
          <p15:clr>
            <a:srgbClr val="000000"/>
          </p15:clr>
        </p15:guide>
        <p15:guide id="11" orient="horz" pos="199" userDrawn="1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E1749-8CFA-A8B5-DE45-01043095A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24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C0642-16DE-C3F1-C5A2-65D0358F9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24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2E43B-4BE6-4925-04BF-46552370DA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16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471D8-949C-C743-AD00-8DE9215203E3}" type="datetimeFigureOut">
              <a:rPr lang="en-US" smtClean="0"/>
              <a:t>9/23/26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8FF4E-05DF-CA4A-CEE9-A59C44F40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7013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E29BC-478C-FC70-BF66-F678720B8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9013" y="6356350"/>
            <a:ext cx="2741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55AED-1CC4-A649-AC04-B1EC2FE561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50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3.png"/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12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0.png"/><Relationship Id="rId11" Type="http://schemas.openxmlformats.org/officeDocument/2006/relationships/image" Target="../media/image21.png"/><Relationship Id="rId5" Type="http://schemas.openxmlformats.org/officeDocument/2006/relationships/image" Target="../media/image170.png"/><Relationship Id="rId10" Type="http://schemas.openxmlformats.org/officeDocument/2006/relationships/image" Target="../media/image20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3445146-AC2A-9DBC-EAC9-8CB5EA429307}"/>
              </a:ext>
            </a:extLst>
          </p:cNvPr>
          <p:cNvSpPr txBox="1">
            <a:spLocks/>
          </p:cNvSpPr>
          <p:nvPr/>
        </p:nvSpPr>
        <p:spPr>
          <a:xfrm>
            <a:off x="189756" y="3212976"/>
            <a:ext cx="10440343" cy="2664296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 indent="0">
              <a:buNone/>
            </a:pPr>
            <a:r>
              <a:rPr lang="nl-NL" kern="0" dirty="0">
                <a:solidFill>
                  <a:schemeClr val="bg1"/>
                </a:solidFill>
              </a:rPr>
              <a:t>Jasper Hof</a:t>
            </a:r>
            <a:r>
              <a:rPr lang="nl-NL" kern="0" baseline="30000" dirty="0">
                <a:solidFill>
                  <a:schemeClr val="bg1"/>
                </a:solidFill>
              </a:rPr>
              <a:t>1</a:t>
            </a:r>
            <a:r>
              <a:rPr lang="nl-NL" kern="0" dirty="0">
                <a:solidFill>
                  <a:schemeClr val="bg1"/>
                </a:solidFill>
              </a:rPr>
              <a:t>, </a:t>
            </a:r>
            <a:r>
              <a:rPr lang="nl-NL" kern="0" dirty="0" err="1">
                <a:solidFill>
                  <a:schemeClr val="bg1"/>
                </a:solidFill>
              </a:rPr>
              <a:t>Chao</a:t>
            </a:r>
            <a:r>
              <a:rPr lang="nl-NL" kern="0" dirty="0">
                <a:solidFill>
                  <a:schemeClr val="bg1"/>
                </a:solidFill>
              </a:rPr>
              <a:t> Ning</a:t>
            </a:r>
            <a:r>
              <a:rPr lang="nl-NL" kern="0" baseline="30000" dirty="0">
                <a:solidFill>
                  <a:schemeClr val="bg1"/>
                </a:solidFill>
              </a:rPr>
              <a:t>1</a:t>
            </a:r>
            <a:r>
              <a:rPr lang="nl-NL" kern="0" dirty="0">
                <a:solidFill>
                  <a:schemeClr val="bg1"/>
                </a:solidFill>
              </a:rPr>
              <a:t>, Liam Quinn</a:t>
            </a:r>
            <a:r>
              <a:rPr lang="nl-NL" kern="0" baseline="30000" dirty="0">
                <a:solidFill>
                  <a:schemeClr val="bg1"/>
                </a:solidFill>
              </a:rPr>
              <a:t>2</a:t>
            </a:r>
            <a:r>
              <a:rPr lang="nl-NL" kern="0" dirty="0">
                <a:solidFill>
                  <a:schemeClr val="bg1"/>
                </a:solidFill>
              </a:rPr>
              <a:t>, </a:t>
            </a:r>
            <a:r>
              <a:rPr lang="nl-NL" kern="0" dirty="0" err="1">
                <a:solidFill>
                  <a:schemeClr val="bg1"/>
                </a:solidFill>
              </a:rPr>
              <a:t>and</a:t>
            </a:r>
            <a:r>
              <a:rPr lang="nl-NL" kern="0" dirty="0">
                <a:solidFill>
                  <a:schemeClr val="bg1"/>
                </a:solidFill>
              </a:rPr>
              <a:t> </a:t>
            </a:r>
            <a:r>
              <a:rPr lang="nl-NL" kern="0" dirty="0" err="1">
                <a:solidFill>
                  <a:schemeClr val="bg1"/>
                </a:solidFill>
              </a:rPr>
              <a:t>Doug</a:t>
            </a:r>
            <a:r>
              <a:rPr lang="nl-NL" kern="0" dirty="0">
                <a:solidFill>
                  <a:schemeClr val="bg1"/>
                </a:solidFill>
              </a:rPr>
              <a:t> Speed</a:t>
            </a:r>
            <a:r>
              <a:rPr lang="nl-NL" kern="0" baseline="30000" dirty="0">
                <a:solidFill>
                  <a:schemeClr val="bg1"/>
                </a:solidFill>
              </a:rPr>
              <a:t>1</a:t>
            </a:r>
            <a:endParaRPr lang="nl-NL" kern="0" dirty="0">
              <a:solidFill>
                <a:schemeClr val="bg1"/>
              </a:solidFill>
            </a:endParaRPr>
          </a:p>
          <a:p>
            <a:pPr lvl="1" indent="0">
              <a:buNone/>
            </a:pPr>
            <a:endParaRPr lang="nl-NL" kern="0" dirty="0">
              <a:solidFill>
                <a:schemeClr val="bg1"/>
              </a:solidFill>
            </a:endParaRPr>
          </a:p>
          <a:p>
            <a:pPr lvl="1" indent="0">
              <a:lnSpc>
                <a:spcPct val="100000"/>
              </a:lnSpc>
              <a:buNone/>
            </a:pPr>
            <a:r>
              <a:rPr lang="nl-NL" sz="1600" i="1" kern="0" baseline="30000" dirty="0">
                <a:solidFill>
                  <a:schemeClr val="bg1"/>
                </a:solidFill>
              </a:rPr>
              <a:t>1</a:t>
            </a:r>
            <a:r>
              <a:rPr lang="nl-NL" sz="1600" i="1" kern="0" dirty="0">
                <a:solidFill>
                  <a:schemeClr val="bg1"/>
                </a:solidFill>
              </a:rPr>
              <a:t>Center </a:t>
            </a:r>
            <a:r>
              <a:rPr lang="nl-NL" sz="1600" i="1" kern="0" dirty="0" err="1">
                <a:solidFill>
                  <a:schemeClr val="bg1"/>
                </a:solidFill>
              </a:rPr>
              <a:t>for</a:t>
            </a:r>
            <a:r>
              <a:rPr lang="nl-NL" sz="1600" i="1" kern="0" dirty="0">
                <a:solidFill>
                  <a:schemeClr val="bg1"/>
                </a:solidFill>
              </a:rPr>
              <a:t> </a:t>
            </a:r>
            <a:r>
              <a:rPr lang="nl-NL" sz="1600" i="1" kern="0" dirty="0" err="1">
                <a:solidFill>
                  <a:schemeClr val="bg1"/>
                </a:solidFill>
              </a:rPr>
              <a:t>Quantitative</a:t>
            </a:r>
            <a:r>
              <a:rPr lang="nl-NL" sz="1600" i="1" kern="0" dirty="0">
                <a:solidFill>
                  <a:schemeClr val="bg1"/>
                </a:solidFill>
              </a:rPr>
              <a:t> Genetics </a:t>
            </a:r>
            <a:r>
              <a:rPr lang="nl-NL" sz="1600" i="1" kern="0" dirty="0" err="1">
                <a:solidFill>
                  <a:schemeClr val="bg1"/>
                </a:solidFill>
              </a:rPr>
              <a:t>and</a:t>
            </a:r>
            <a:r>
              <a:rPr lang="nl-NL" sz="1600" i="1" kern="0" dirty="0">
                <a:solidFill>
                  <a:schemeClr val="bg1"/>
                </a:solidFill>
              </a:rPr>
              <a:t> </a:t>
            </a:r>
            <a:r>
              <a:rPr lang="nl-NL" sz="1600" i="1" kern="0" dirty="0" err="1">
                <a:solidFill>
                  <a:schemeClr val="bg1"/>
                </a:solidFill>
              </a:rPr>
              <a:t>Genomics</a:t>
            </a:r>
            <a:r>
              <a:rPr lang="nl-NL" sz="1600" i="1" kern="0" dirty="0">
                <a:solidFill>
                  <a:schemeClr val="bg1"/>
                </a:solidFill>
              </a:rPr>
              <a:t>, Aarhus University, Denmark</a:t>
            </a:r>
          </a:p>
          <a:p>
            <a:pPr lvl="1" indent="0">
              <a:lnSpc>
                <a:spcPct val="100000"/>
              </a:lnSpc>
              <a:buNone/>
            </a:pPr>
            <a:r>
              <a:rPr lang="en-US" sz="1600" i="1" baseline="30000" dirty="0">
                <a:solidFill>
                  <a:schemeClr val="bg1"/>
                </a:solidFill>
              </a:rPr>
              <a:t>2</a:t>
            </a:r>
            <a:r>
              <a:rPr lang="en-US" sz="1600" i="1" dirty="0">
                <a:solidFill>
                  <a:schemeClr val="bg1"/>
                </a:solidFill>
              </a:rPr>
              <a:t>Department of Clinical Immunology, Zealand University Hospital, Denmark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916A04-B4C9-A3F0-B3AC-A5BAACC15EF9}"/>
              </a:ext>
            </a:extLst>
          </p:cNvPr>
          <p:cNvSpPr txBox="1"/>
          <p:nvPr/>
        </p:nvSpPr>
        <p:spPr>
          <a:xfrm>
            <a:off x="702394" y="1340768"/>
            <a:ext cx="10575777" cy="10525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b="1" dirty="0">
                <a:solidFill>
                  <a:schemeClr val="bg1"/>
                </a:solidFill>
              </a:rPr>
              <a:t>Incorporating phenotype heterogeneity in disease GWAS improves power while maintaining specificity</a:t>
            </a:r>
            <a:endParaRPr lang="en-US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FC6ABE-1E4C-5B3B-BC97-0388B57BA440}"/>
              </a:ext>
            </a:extLst>
          </p:cNvPr>
          <p:cNvSpPr txBox="1"/>
          <p:nvPr/>
        </p:nvSpPr>
        <p:spPr>
          <a:xfrm>
            <a:off x="-4318000" y="-2082800"/>
            <a:ext cx="65" cy="23391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endParaRPr lang="en-US" sz="1600" dirty="0">
              <a:latin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8320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7DB72-BEAA-3427-5774-D7E5DB94D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7858D1E-AF48-29EB-A074-FA1B7EDD6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780" y="2780928"/>
            <a:ext cx="11665296" cy="3096344"/>
          </a:xfrm>
        </p:spPr>
        <p:txBody>
          <a:bodyPr/>
          <a:lstStyle/>
          <a:p>
            <a:pPr algn="ctr">
              <a:buNone/>
            </a:pPr>
            <a:r>
              <a:rPr lang="nl-NL" sz="3200" dirty="0"/>
              <a:t>I have </a:t>
            </a:r>
            <a:r>
              <a:rPr lang="nl-NL" sz="3200" dirty="0" err="1"/>
              <a:t>nothing</a:t>
            </a:r>
            <a:r>
              <a:rPr lang="nl-NL" sz="3200" dirty="0"/>
              <a:t> </a:t>
            </a:r>
            <a:r>
              <a:rPr lang="nl-NL" sz="3200" dirty="0" err="1"/>
              <a:t>to</a:t>
            </a:r>
            <a:r>
              <a:rPr lang="nl-NL" sz="3200" dirty="0"/>
              <a:t> </a:t>
            </a:r>
            <a:r>
              <a:rPr lang="nl-NL" sz="3200" dirty="0" err="1"/>
              <a:t>disclose</a:t>
            </a:r>
            <a:endParaRPr lang="nl-NL" sz="3200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3CF3A89-4E8B-73CA-BBC2-12E171431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/>
              <a:t>29/04/2025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6856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0B3AE-C1F7-4C4B-B832-EA8746522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2FFB030-6815-75EB-A29A-E7D2CA7E2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780" y="1556792"/>
            <a:ext cx="11665296" cy="4320480"/>
          </a:xfrm>
        </p:spPr>
        <p:txBody>
          <a:bodyPr/>
          <a:lstStyle/>
          <a:p>
            <a:pPr>
              <a:buNone/>
            </a:pPr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conducting</a:t>
            </a:r>
            <a:r>
              <a:rPr lang="nl-NL" dirty="0"/>
              <a:t> a GWAS on major </a:t>
            </a:r>
            <a:r>
              <a:rPr lang="nl-NL" dirty="0" err="1"/>
              <a:t>depressive</a:t>
            </a:r>
            <a:r>
              <a:rPr lang="nl-NL" dirty="0"/>
              <a:t> disorder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observe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cases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/>
              <a:t> - </a:t>
            </a:r>
            <a:r>
              <a:rPr lang="nl-NL" u="sng" dirty="0"/>
              <a:t>Case A</a:t>
            </a:r>
            <a:r>
              <a:rPr lang="nl-NL" dirty="0"/>
              <a:t>: 	</a:t>
            </a:r>
            <a:r>
              <a:rPr lang="nl-NL" dirty="0" err="1"/>
              <a:t>self-diagnosed</a:t>
            </a:r>
            <a:r>
              <a:rPr lang="nl-NL" dirty="0"/>
              <a:t>,  low </a:t>
            </a:r>
            <a:r>
              <a:rPr lang="nl-NL" dirty="0" err="1"/>
              <a:t>symptom</a:t>
            </a:r>
            <a:r>
              <a:rPr lang="nl-NL" dirty="0"/>
              <a:t> score,  late </a:t>
            </a:r>
            <a:r>
              <a:rPr lang="nl-NL" dirty="0" err="1"/>
              <a:t>onset</a:t>
            </a:r>
            <a:endParaRPr lang="nl-NL" dirty="0"/>
          </a:p>
          <a:p>
            <a:pPr>
              <a:buNone/>
            </a:pPr>
            <a:r>
              <a:rPr lang="nl-NL" dirty="0"/>
              <a:t> - </a:t>
            </a:r>
            <a:r>
              <a:rPr lang="nl-NL" u="sng" dirty="0"/>
              <a:t>Case B</a:t>
            </a:r>
            <a:r>
              <a:rPr lang="nl-NL" dirty="0"/>
              <a:t>:	</a:t>
            </a:r>
            <a:r>
              <a:rPr lang="nl-NL" dirty="0" err="1"/>
              <a:t>clinically</a:t>
            </a:r>
            <a:r>
              <a:rPr lang="nl-NL" dirty="0"/>
              <a:t> </a:t>
            </a:r>
            <a:r>
              <a:rPr lang="nl-NL" dirty="0" err="1"/>
              <a:t>diagnosed</a:t>
            </a:r>
            <a:r>
              <a:rPr lang="nl-NL" dirty="0"/>
              <a:t>,  high </a:t>
            </a:r>
            <a:r>
              <a:rPr lang="nl-NL" dirty="0" err="1"/>
              <a:t>symptom</a:t>
            </a:r>
            <a:r>
              <a:rPr lang="nl-NL" dirty="0"/>
              <a:t> score,  </a:t>
            </a:r>
            <a:r>
              <a:rPr lang="nl-NL" dirty="0" err="1"/>
              <a:t>early</a:t>
            </a:r>
            <a:r>
              <a:rPr lang="nl-NL" dirty="0"/>
              <a:t> </a:t>
            </a:r>
            <a:r>
              <a:rPr lang="nl-NL" dirty="0" err="1"/>
              <a:t>onset</a:t>
            </a:r>
            <a:endParaRPr lang="nl-NL" dirty="0"/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/>
              <a:t>	</a:t>
            </a:r>
            <a:r>
              <a:rPr lang="nl-NL" i="1" dirty="0" err="1"/>
              <a:t>Should</a:t>
            </a:r>
            <a:r>
              <a:rPr lang="nl-NL" i="1" dirty="0"/>
              <a:t> these cases </a:t>
            </a:r>
            <a:r>
              <a:rPr lang="nl-NL" i="1" dirty="0" err="1"/>
              <a:t>be</a:t>
            </a:r>
            <a:r>
              <a:rPr lang="nl-NL" i="1" dirty="0"/>
              <a:t> </a:t>
            </a:r>
            <a:r>
              <a:rPr lang="nl-NL" i="1" dirty="0" err="1"/>
              <a:t>treated</a:t>
            </a:r>
            <a:r>
              <a:rPr lang="nl-NL" i="1" dirty="0"/>
              <a:t> </a:t>
            </a:r>
            <a:r>
              <a:rPr lang="nl-NL" i="1" dirty="0" err="1"/>
              <a:t>equally</a:t>
            </a:r>
            <a:r>
              <a:rPr lang="nl-NL" i="1" dirty="0"/>
              <a:t> in a GWAS?</a:t>
            </a:r>
            <a:endParaRPr lang="nl-NL" dirty="0"/>
          </a:p>
          <a:p>
            <a:pPr>
              <a:buNone/>
            </a:pPr>
            <a:endParaRPr lang="nl-NL" i="1" dirty="0"/>
          </a:p>
          <a:p>
            <a:pPr>
              <a:buNone/>
            </a:pPr>
            <a:r>
              <a:rPr lang="nl-NL" i="1" dirty="0"/>
              <a:t> - </a:t>
            </a:r>
            <a:r>
              <a:rPr lang="nl-NL" u="sng" dirty="0"/>
              <a:t>Case A</a:t>
            </a:r>
            <a:r>
              <a:rPr lang="nl-NL" dirty="0"/>
              <a:t>: 	a “proxy-case”: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individual</a:t>
            </a:r>
            <a:r>
              <a:rPr lang="nl-NL" dirty="0"/>
              <a:t> </a:t>
            </a:r>
            <a:r>
              <a:rPr lang="nl-NL" dirty="0" err="1"/>
              <a:t>likely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case </a:t>
            </a:r>
            <a:r>
              <a:rPr lang="nl-NL" dirty="0" err="1"/>
              <a:t>from</a:t>
            </a:r>
            <a:r>
              <a:rPr lang="nl-NL" dirty="0"/>
              <a:t> data, but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phenotyped</a:t>
            </a:r>
            <a:endParaRPr lang="nl-NL" i="1" u="sng" dirty="0"/>
          </a:p>
          <a:p>
            <a:pPr>
              <a:buNone/>
            </a:pPr>
            <a:r>
              <a:rPr lang="nl-NL" i="1" dirty="0"/>
              <a:t> - </a:t>
            </a:r>
            <a:r>
              <a:rPr lang="nl-NL" u="sng" dirty="0"/>
              <a:t>Case B</a:t>
            </a:r>
            <a:r>
              <a:rPr lang="nl-NL" dirty="0"/>
              <a:t>:	a hard </a:t>
            </a:r>
            <a:r>
              <a:rPr lang="nl-NL" dirty="0" err="1"/>
              <a:t>phenotyped</a:t>
            </a:r>
            <a:r>
              <a:rPr lang="nl-NL" dirty="0"/>
              <a:t> case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i="1" dirty="0"/>
              <a:t>	</a:t>
            </a:r>
            <a:r>
              <a:rPr lang="nl-NL" i="1" dirty="0" err="1"/>
              <a:t>Should</a:t>
            </a:r>
            <a:r>
              <a:rPr lang="nl-NL" i="1" dirty="0"/>
              <a:t> these cases </a:t>
            </a:r>
            <a:r>
              <a:rPr lang="nl-NL" i="1" dirty="0" err="1"/>
              <a:t>be</a:t>
            </a:r>
            <a:r>
              <a:rPr lang="nl-NL" i="1" dirty="0"/>
              <a:t> </a:t>
            </a:r>
            <a:r>
              <a:rPr lang="nl-NL" i="1" dirty="0" err="1"/>
              <a:t>treated</a:t>
            </a:r>
            <a:r>
              <a:rPr lang="nl-NL" i="1" dirty="0"/>
              <a:t> </a:t>
            </a:r>
            <a:r>
              <a:rPr lang="nl-NL" i="1" dirty="0" err="1"/>
              <a:t>equally</a:t>
            </a:r>
            <a:r>
              <a:rPr lang="nl-NL" i="1" dirty="0"/>
              <a:t> in a GWAS?</a:t>
            </a:r>
            <a:endParaRPr lang="nl-NL" dirty="0"/>
          </a:p>
          <a:p>
            <a:pPr>
              <a:buNone/>
            </a:pP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3AC8BE9-BDE3-C869-349D-D45675D8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/>
              <a:t>29/04/2025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C3724A-3CED-C678-99F2-D5E4C1C4BCF6}"/>
              </a:ext>
            </a:extLst>
          </p:cNvPr>
          <p:cNvSpPr txBox="1"/>
          <p:nvPr/>
        </p:nvSpPr>
        <p:spPr>
          <a:xfrm>
            <a:off x="775219" y="626682"/>
            <a:ext cx="10791801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b="1" dirty="0">
                <a:latin typeface="+mn-lt"/>
              </a:rPr>
              <a:t>A hypothetical scenario (?)</a:t>
            </a:r>
          </a:p>
        </p:txBody>
      </p:sp>
    </p:spTree>
    <p:extLst>
      <p:ext uri="{BB962C8B-B14F-4D97-AF65-F5344CB8AC3E}">
        <p14:creationId xmlns:p14="http://schemas.microsoft.com/office/powerpoint/2010/main" val="190382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0BACE-E360-A3E9-7CAF-D906987F2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5E071E5-6D5E-B1D0-512A-744FE7F46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04" y="1340768"/>
            <a:ext cx="8136904" cy="4320480"/>
          </a:xfrm>
        </p:spPr>
        <p:txBody>
          <a:bodyPr/>
          <a:lstStyle/>
          <a:p>
            <a:pPr>
              <a:buNone/>
            </a:pPr>
            <a:r>
              <a:rPr lang="nl-NL" dirty="0" err="1"/>
              <a:t>Many</a:t>
            </a:r>
            <a:r>
              <a:rPr lang="nl-NL" dirty="0"/>
              <a:t> recent GWAS </a:t>
            </a:r>
            <a:r>
              <a:rPr lang="nl-NL" dirty="0" err="1"/>
              <a:t>perform</a:t>
            </a:r>
            <a:r>
              <a:rPr lang="nl-NL" dirty="0"/>
              <a:t> </a:t>
            </a:r>
            <a:r>
              <a:rPr lang="nl-NL" dirty="0" err="1"/>
              <a:t>stratified</a:t>
            </a:r>
            <a:r>
              <a:rPr lang="nl-NL" dirty="0"/>
              <a:t> analyses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study</a:t>
            </a:r>
            <a:r>
              <a:rPr lang="nl-NL" dirty="0"/>
              <a:t> </a:t>
            </a:r>
            <a:r>
              <a:rPr lang="nl-NL" dirty="0" err="1"/>
              <a:t>differences</a:t>
            </a:r>
            <a:r>
              <a:rPr lang="nl-NL" dirty="0"/>
              <a:t> in </a:t>
            </a:r>
            <a:r>
              <a:rPr lang="nl-NL" dirty="0" err="1"/>
              <a:t>genetic</a:t>
            </a:r>
            <a:r>
              <a:rPr lang="nl-NL" dirty="0"/>
              <a:t> </a:t>
            </a:r>
            <a:r>
              <a:rPr lang="nl-NL" dirty="0" err="1"/>
              <a:t>architecture</a:t>
            </a:r>
            <a:r>
              <a:rPr lang="nl-NL" dirty="0"/>
              <a:t> of </a:t>
            </a:r>
            <a:r>
              <a:rPr lang="nl-NL" dirty="0" err="1"/>
              <a:t>subgroups</a:t>
            </a:r>
            <a:endParaRPr lang="nl-NL" dirty="0"/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 err="1"/>
              <a:t>Examples</a:t>
            </a:r>
            <a:r>
              <a:rPr lang="nl-NL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Early</a:t>
            </a:r>
            <a:r>
              <a:rPr lang="nl-NL" dirty="0"/>
              <a:t> vs. late </a:t>
            </a:r>
            <a:r>
              <a:rPr lang="nl-NL" dirty="0" err="1"/>
              <a:t>onset</a:t>
            </a:r>
            <a:r>
              <a:rPr lang="nl-NL" dirty="0"/>
              <a:t> of depression</a:t>
            </a:r>
            <a:r>
              <a:rPr lang="nl-NL" baseline="30000" dirty="0"/>
              <a:t>1,2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Early</a:t>
            </a:r>
            <a:r>
              <a:rPr lang="nl-NL" dirty="0"/>
              <a:t> vs. late </a:t>
            </a:r>
            <a:r>
              <a:rPr lang="nl-NL" dirty="0" err="1"/>
              <a:t>onset</a:t>
            </a:r>
            <a:r>
              <a:rPr lang="nl-NL" dirty="0"/>
              <a:t> of autism</a:t>
            </a:r>
            <a:r>
              <a:rPr lang="nl-NL" baseline="30000" dirty="0"/>
              <a:t>3,4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Early</a:t>
            </a:r>
            <a:r>
              <a:rPr lang="nl-NL" dirty="0"/>
              <a:t> vs. late </a:t>
            </a:r>
            <a:r>
              <a:rPr lang="nl-NL" dirty="0" err="1"/>
              <a:t>onset</a:t>
            </a:r>
            <a:r>
              <a:rPr lang="nl-NL" dirty="0"/>
              <a:t> of ADHD</a:t>
            </a:r>
            <a:r>
              <a:rPr lang="nl-NL" baseline="30000" dirty="0"/>
              <a:t>5</a:t>
            </a:r>
            <a:r>
              <a:rPr lang="nl-NL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Symptom-based</a:t>
            </a:r>
            <a:r>
              <a:rPr lang="nl-NL" dirty="0"/>
              <a:t> </a:t>
            </a:r>
            <a:r>
              <a:rPr lang="nl-NL" dirty="0" err="1"/>
              <a:t>subgroups</a:t>
            </a:r>
            <a:r>
              <a:rPr lang="nl-NL" dirty="0"/>
              <a:t> of depression</a:t>
            </a:r>
            <a:r>
              <a:rPr lang="nl-NL" baseline="30000" dirty="0"/>
              <a:t>6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Symptom-based</a:t>
            </a:r>
            <a:r>
              <a:rPr lang="nl-NL" dirty="0"/>
              <a:t> </a:t>
            </a:r>
            <a:r>
              <a:rPr lang="nl-NL" dirty="0" err="1"/>
              <a:t>subgroups</a:t>
            </a:r>
            <a:r>
              <a:rPr lang="nl-NL" dirty="0"/>
              <a:t> of autism</a:t>
            </a:r>
            <a:r>
              <a:rPr lang="nl-NL" baseline="30000" dirty="0"/>
              <a:t>7</a:t>
            </a:r>
            <a:endParaRPr lang="nl-NL" dirty="0"/>
          </a:p>
          <a:p>
            <a:pPr>
              <a:buNone/>
            </a:pPr>
            <a:endParaRPr lang="nl-NL" dirty="0"/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 err="1"/>
              <a:t>Although</a:t>
            </a:r>
            <a:r>
              <a:rPr lang="nl-NL" dirty="0"/>
              <a:t> these point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genetic</a:t>
            </a:r>
            <a:r>
              <a:rPr lang="nl-NL" dirty="0"/>
              <a:t> </a:t>
            </a:r>
            <a:r>
              <a:rPr lang="nl-NL" dirty="0" err="1"/>
              <a:t>differences</a:t>
            </a:r>
            <a:r>
              <a:rPr lang="nl-NL" dirty="0"/>
              <a:t> </a:t>
            </a:r>
            <a:r>
              <a:rPr lang="nl-NL" dirty="0" err="1"/>
              <a:t>among</a:t>
            </a:r>
            <a:r>
              <a:rPr lang="nl-NL" dirty="0"/>
              <a:t> cases, </a:t>
            </a:r>
            <a:r>
              <a:rPr lang="nl-NL" dirty="0" err="1"/>
              <a:t>there</a:t>
            </a:r>
            <a:r>
              <a:rPr lang="nl-NL" dirty="0"/>
              <a:t> is no </a:t>
            </a:r>
            <a:r>
              <a:rPr lang="nl-NL" dirty="0" err="1"/>
              <a:t>optimal</a:t>
            </a:r>
            <a:r>
              <a:rPr lang="nl-NL" dirty="0"/>
              <a:t> way of </a:t>
            </a:r>
            <a:r>
              <a:rPr lang="nl-NL" dirty="0" err="1"/>
              <a:t>performing</a:t>
            </a:r>
            <a:r>
              <a:rPr lang="nl-NL" dirty="0"/>
              <a:t> a </a:t>
            </a:r>
            <a:r>
              <a:rPr lang="nl-NL" dirty="0" err="1"/>
              <a:t>pooled</a:t>
            </a:r>
            <a:r>
              <a:rPr lang="nl-NL" dirty="0"/>
              <a:t> GWAS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65EF099-343D-93C5-16AE-527EC4FD9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/>
              <a:t>29/04/2025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BAEC1D-AA62-9EC1-F43F-142538CF978C}"/>
              </a:ext>
            </a:extLst>
          </p:cNvPr>
          <p:cNvSpPr txBox="1"/>
          <p:nvPr/>
        </p:nvSpPr>
        <p:spPr>
          <a:xfrm>
            <a:off x="374475" y="620688"/>
            <a:ext cx="11583889" cy="4678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200" b="1" dirty="0">
                <a:latin typeface="+mn-lt"/>
              </a:rPr>
              <a:t>Current GWAS stratify cases to study the genetics of subgroups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3F7E3F-72F3-356A-CFEC-F98FC250146B}"/>
              </a:ext>
            </a:extLst>
          </p:cNvPr>
          <p:cNvSpPr txBox="1"/>
          <p:nvPr/>
        </p:nvSpPr>
        <p:spPr>
          <a:xfrm>
            <a:off x="9334772" y="5767075"/>
            <a:ext cx="4752528" cy="10087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900" baseline="30000" dirty="0"/>
              <a:t>1</a:t>
            </a:r>
            <a:r>
              <a:rPr lang="en-US" sz="900" dirty="0"/>
              <a:t> Shorter et al. </a:t>
            </a:r>
            <a:r>
              <a:rPr lang="en-US" sz="900" i="1" dirty="0"/>
              <a:t>Nature Genetics</a:t>
            </a:r>
            <a:r>
              <a:rPr lang="en-US" sz="900" dirty="0"/>
              <a:t> 2025</a:t>
            </a:r>
          </a:p>
          <a:p>
            <a:pPr>
              <a:lnSpc>
                <a:spcPct val="95000"/>
              </a:lnSpc>
            </a:pPr>
            <a:r>
              <a:rPr lang="en-US" sz="900" baseline="30000" dirty="0"/>
              <a:t>2</a:t>
            </a:r>
            <a:r>
              <a:rPr lang="en-US" sz="900" dirty="0"/>
              <a:t> Harder et al. </a:t>
            </a:r>
            <a:r>
              <a:rPr lang="en-US" sz="900" i="1" dirty="0"/>
              <a:t>Translational Psychiatry</a:t>
            </a:r>
            <a:r>
              <a:rPr lang="en-US" sz="900" dirty="0"/>
              <a:t> 2022</a:t>
            </a:r>
            <a:endParaRPr lang="en-US" sz="900" baseline="30000" dirty="0"/>
          </a:p>
          <a:p>
            <a:pPr>
              <a:lnSpc>
                <a:spcPct val="95000"/>
              </a:lnSpc>
            </a:pPr>
            <a:r>
              <a:rPr lang="en-US" sz="900" baseline="30000" dirty="0">
                <a:latin typeface="+mn-lt"/>
              </a:rPr>
              <a:t>3</a:t>
            </a:r>
            <a:r>
              <a:rPr lang="en-US" sz="900" dirty="0">
                <a:latin typeface="+mn-lt"/>
              </a:rPr>
              <a:t> Breunig et al. </a:t>
            </a:r>
            <a:r>
              <a:rPr lang="en-US" sz="900" i="1" dirty="0">
                <a:latin typeface="+mn-lt"/>
              </a:rPr>
              <a:t>Behavior Genetics </a:t>
            </a:r>
            <a:r>
              <a:rPr lang="en-US" sz="900" dirty="0">
                <a:latin typeface="+mn-lt"/>
              </a:rPr>
              <a:t>2026</a:t>
            </a:r>
          </a:p>
          <a:p>
            <a:pPr>
              <a:lnSpc>
                <a:spcPct val="95000"/>
              </a:lnSpc>
            </a:pPr>
            <a:r>
              <a:rPr lang="en-US" sz="900" baseline="30000" dirty="0">
                <a:latin typeface="+mn-lt"/>
              </a:rPr>
              <a:t>4</a:t>
            </a:r>
            <a:r>
              <a:rPr lang="en-US" sz="900" dirty="0">
                <a:latin typeface="+mn-lt"/>
              </a:rPr>
              <a:t> Zhan et al. </a:t>
            </a:r>
            <a:r>
              <a:rPr lang="en-US" sz="900" i="1" dirty="0">
                <a:latin typeface="+mn-lt"/>
              </a:rPr>
              <a:t>Nature 2025</a:t>
            </a:r>
          </a:p>
          <a:p>
            <a:pPr>
              <a:lnSpc>
                <a:spcPct val="95000"/>
              </a:lnSpc>
            </a:pPr>
            <a:r>
              <a:rPr lang="en-US" sz="900" baseline="30000" dirty="0">
                <a:latin typeface="+mn-lt"/>
              </a:rPr>
              <a:t>5 </a:t>
            </a:r>
            <a:r>
              <a:rPr lang="en-US" sz="900" dirty="0">
                <a:latin typeface="+mn-lt"/>
              </a:rPr>
              <a:t>Rajagopal et al. </a:t>
            </a:r>
            <a:r>
              <a:rPr lang="en-US" sz="900" i="1" dirty="0">
                <a:latin typeface="+mn-lt"/>
              </a:rPr>
              <a:t>Nature Genetics </a:t>
            </a:r>
            <a:r>
              <a:rPr lang="en-US" sz="900" dirty="0">
                <a:latin typeface="+mn-lt"/>
              </a:rPr>
              <a:t>2025</a:t>
            </a:r>
          </a:p>
          <a:p>
            <a:pPr>
              <a:lnSpc>
                <a:spcPct val="95000"/>
              </a:lnSpc>
            </a:pPr>
            <a:r>
              <a:rPr lang="en-US" sz="900" baseline="30000" dirty="0">
                <a:latin typeface="+mn-lt"/>
              </a:rPr>
              <a:t>6</a:t>
            </a:r>
            <a:r>
              <a:rPr lang="en-US" sz="900" dirty="0">
                <a:latin typeface="+mn-lt"/>
              </a:rPr>
              <a:t> Goula et al. </a:t>
            </a:r>
            <a:r>
              <a:rPr lang="en-US" sz="900" i="1" dirty="0" err="1">
                <a:latin typeface="+mn-lt"/>
              </a:rPr>
              <a:t>medRxiv</a:t>
            </a:r>
            <a:r>
              <a:rPr lang="en-US" sz="900" i="1" dirty="0">
                <a:latin typeface="+mn-lt"/>
              </a:rPr>
              <a:t> 2026</a:t>
            </a:r>
          </a:p>
          <a:p>
            <a:pPr>
              <a:lnSpc>
                <a:spcPct val="95000"/>
              </a:lnSpc>
            </a:pPr>
            <a:r>
              <a:rPr lang="en-US" sz="900" i="1" baseline="30000" dirty="0">
                <a:latin typeface="+mn-lt"/>
              </a:rPr>
              <a:t>7</a:t>
            </a:r>
            <a:r>
              <a:rPr lang="en-US" sz="900" i="1" dirty="0">
                <a:latin typeface="+mn-lt"/>
              </a:rPr>
              <a:t> </a:t>
            </a:r>
            <a:r>
              <a:rPr lang="en-US" sz="900" dirty="0">
                <a:latin typeface="+mn-lt"/>
              </a:rPr>
              <a:t>Litman et al. Nature Genetics 2025</a:t>
            </a:r>
            <a:endParaRPr lang="en-US" sz="900" baseline="30000" dirty="0">
              <a:latin typeface="+mn-lt"/>
            </a:endParaRPr>
          </a:p>
          <a:p>
            <a:pPr>
              <a:lnSpc>
                <a:spcPct val="95000"/>
              </a:lnSpc>
            </a:pPr>
            <a:endParaRPr lang="en-US" sz="900" baseline="30000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D7841F-70C6-2998-7E5C-C580A81CE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921" y="1779004"/>
            <a:ext cx="3814192" cy="18031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E7FE47-6DF4-BA4E-A574-7911B1F9A2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654" y="2181478"/>
            <a:ext cx="4102224" cy="23682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930A46-07CC-A857-4922-08DBB37A4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302" y="2611595"/>
            <a:ext cx="3645069" cy="18671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226F9A-45E0-8FD3-38E3-6BEF1964C7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5641" y="2991160"/>
            <a:ext cx="5470376" cy="21721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3B02FC-7403-2283-E177-D57BBDBDC62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680" y="3362743"/>
            <a:ext cx="4666704" cy="19966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DDCC58-03AC-9D07-FA06-86AC794B9D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89110" y="3843488"/>
            <a:ext cx="4335264" cy="13108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65824AD-063C-1461-0ACC-8A3642B1C9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2820" y="4202693"/>
            <a:ext cx="3143814" cy="1000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10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A10E8-20F1-E600-EA25-602A32BD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6CA84F9-908B-57A5-7981-639F33E16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88" y="1844824"/>
            <a:ext cx="7998971" cy="4176464"/>
          </a:xfrm>
        </p:spPr>
        <p:txBody>
          <a:bodyPr/>
          <a:lstStyle/>
          <a:p>
            <a:pPr>
              <a:buNone/>
            </a:pPr>
            <a:r>
              <a:rPr lang="en-US" dirty="0"/>
              <a:t>We introduce StratGWAS, a new GWAS tool that uses heterogeneity information to improve the statistical power of GWAS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Three sources of </a:t>
            </a:r>
            <a:r>
              <a:rPr lang="en-US" u="sng" dirty="0"/>
              <a:t>input data</a:t>
            </a:r>
            <a:r>
              <a:rPr lang="en-US" dirty="0"/>
              <a:t> are required:</a:t>
            </a:r>
          </a:p>
          <a:p>
            <a:pPr marL="774900" lvl="1" indent="-342900">
              <a:buFont typeface="Courier New" panose="02070309020205020404" pitchFamily="49" charset="0"/>
              <a:buChar char="o"/>
            </a:pPr>
            <a:r>
              <a:rPr lang="en-US" dirty="0"/>
              <a:t>“Target binary trait”</a:t>
            </a:r>
          </a:p>
          <a:p>
            <a:pPr marL="774900" lvl="1" indent="-342900">
              <a:buFont typeface="Courier New" panose="02070309020205020404" pitchFamily="49" charset="0"/>
              <a:buChar char="o"/>
            </a:pPr>
            <a:r>
              <a:rPr lang="en-US" dirty="0"/>
              <a:t>“Stratification variables” 	(age-at-onset, symptom score, …)</a:t>
            </a:r>
          </a:p>
          <a:p>
            <a:pPr marL="774900" lvl="1" indent="-342900">
              <a:buFont typeface="Courier New" panose="02070309020205020404" pitchFamily="49" charset="0"/>
              <a:buChar char="o"/>
            </a:pPr>
            <a:r>
              <a:rPr lang="en-US" dirty="0"/>
              <a:t>Genotype data 		(.bed format)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StratGWAS computed a “transformed phenotype” that </a:t>
            </a:r>
            <a:r>
              <a:rPr lang="en-US" u="sng" dirty="0"/>
              <a:t>assigns weights </a:t>
            </a:r>
            <a:r>
              <a:rPr lang="en-US" dirty="0"/>
              <a:t>to individuals based on disease subgroups membership</a:t>
            </a:r>
          </a:p>
          <a:p>
            <a:pPr marL="774900" lvl="1" indent="-342900">
              <a:buFont typeface="Courier New" panose="02070309020205020404" pitchFamily="49" charset="0"/>
              <a:buChar char="o"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nl-NL" dirty="0"/>
          </a:p>
          <a:p>
            <a:pPr>
              <a:buNone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48B0C3D-F742-6A7E-BFE7-0E9DF4DB1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 dirty="0"/>
              <a:t>29/04/2025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3CE12E-4A0F-2551-4F1C-9FD00357EF4E}"/>
              </a:ext>
            </a:extLst>
          </p:cNvPr>
          <p:cNvSpPr txBox="1"/>
          <p:nvPr/>
        </p:nvSpPr>
        <p:spPr>
          <a:xfrm>
            <a:off x="775219" y="626682"/>
            <a:ext cx="10791801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b="1" dirty="0">
                <a:latin typeface="+mn-lt"/>
              </a:rPr>
              <a:t>StratGWAS exploits clinical heterogeneity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D97E33-289D-7DF7-9275-FB3C2B969F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4771" y="1988840"/>
            <a:ext cx="3486305" cy="410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648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8D8B8-B932-88DB-EB6B-20886C5AB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6F93A73-DD1D-8256-8535-2107736785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780" y="1196752"/>
            <a:ext cx="10441160" cy="4464496"/>
          </a:xfrm>
        </p:spPr>
        <p:txBody>
          <a:bodyPr/>
          <a:lstStyle/>
          <a:p>
            <a:pPr>
              <a:buNone/>
            </a:pPr>
            <a:r>
              <a:rPr lang="en-US" dirty="0"/>
              <a:t>Cases are partitioned into subgroups using “stratification variables”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Continuous stratification variable (e.g., age at diagnosis, medication uptake,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Categorical stratification variable (e.g., subtypes, comorbidities, questionnaire data,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r>
              <a:rPr lang="en-US" dirty="0"/>
              <a:t> 								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StratGWAS constructs new phenotypes based on these subgroups, with shared controls</a:t>
            </a:r>
          </a:p>
          <a:p>
            <a:pPr>
              <a:buNone/>
            </a:pPr>
            <a:r>
              <a:rPr lang="en-US" dirty="0"/>
              <a:t>	then runs a simple linear regression GWAS for each phenotype</a:t>
            </a:r>
          </a:p>
          <a:p>
            <a:pPr>
              <a:buNone/>
            </a:pPr>
            <a:r>
              <a:rPr lang="en-US" dirty="0"/>
              <a:t>	the next slides assume analysis of one stratification variable, but there can be </a:t>
            </a:r>
            <a:r>
              <a:rPr lang="en-US" u="sng" dirty="0"/>
              <a:t>many</a:t>
            </a:r>
            <a:r>
              <a:rPr lang="en-US" dirty="0"/>
              <a:t>!</a:t>
            </a:r>
            <a:endParaRPr lang="nl-NL" dirty="0"/>
          </a:p>
          <a:p>
            <a:pPr>
              <a:buNone/>
            </a:pPr>
            <a:endParaRPr lang="nl-NL" dirty="0"/>
          </a:p>
          <a:p>
            <a:pPr>
              <a:buNone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1431859-09B2-D5A8-9611-49E3F9D16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/>
              <a:t>29/04/2025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A6C775-54C6-D3CF-BB38-ADD6DF4ED6CB}"/>
              </a:ext>
            </a:extLst>
          </p:cNvPr>
          <p:cNvSpPr txBox="1"/>
          <p:nvPr/>
        </p:nvSpPr>
        <p:spPr>
          <a:xfrm>
            <a:off x="775219" y="404664"/>
            <a:ext cx="10791801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b="1" dirty="0">
                <a:latin typeface="+mn-lt"/>
              </a:rPr>
              <a:t>StratGWAS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246907-1C26-B1A4-37E0-39EAA2A36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860" y="2492896"/>
            <a:ext cx="3686810" cy="23042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9B4297-E7CA-6E74-FAEA-B226F74161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559" y="2665333"/>
            <a:ext cx="4259163" cy="195938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C633BBB-5B7F-8F15-AF7A-F0B111515B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835" y="3879000"/>
            <a:ext cx="185353" cy="3913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BC3E188-15C6-47F3-DEA6-E44A30E0C1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0247" y="3868701"/>
            <a:ext cx="185353" cy="40159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52A9334-895B-9F5A-06C8-95E04960AB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701" y="3868700"/>
            <a:ext cx="195651" cy="401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3E76D1-1DBF-770A-5477-A9F59D561E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992" y="3887714"/>
            <a:ext cx="206008" cy="3825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B813688-9312-A5C1-9870-401ECC9A091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7317" y="3878996"/>
            <a:ext cx="195652" cy="391304"/>
          </a:xfrm>
          <a:prstGeom prst="rect">
            <a:avLst/>
          </a:prstGeom>
        </p:spPr>
      </p:pic>
      <p:sp>
        <p:nvSpPr>
          <p:cNvPr id="20" name="Right Arrow 19">
            <a:extLst>
              <a:ext uri="{FF2B5EF4-FFF2-40B4-BE49-F238E27FC236}">
                <a16:creationId xmlns:a16="http://schemas.microsoft.com/office/drawing/2014/main" id="{4B03C3D4-F5E1-9540-E104-80BAB7F740BE}"/>
              </a:ext>
            </a:extLst>
          </p:cNvPr>
          <p:cNvSpPr/>
          <p:nvPr/>
        </p:nvSpPr>
        <p:spPr bwMode="auto">
          <a:xfrm>
            <a:off x="5086300" y="3573016"/>
            <a:ext cx="936104" cy="144016"/>
          </a:xfrm>
          <a:prstGeom prst="rightArrow">
            <a:avLst/>
          </a:prstGeom>
          <a:solidFill>
            <a:schemeClr val="accent2"/>
          </a:solidFill>
          <a:ln w="1778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508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6248E-5FBF-4479-7799-02B828603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1A659D0-DFF4-0B89-2DB0-AC70F3631B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5780" y="1412776"/>
                <a:ext cx="11161240" cy="4464496"/>
              </a:xfrm>
            </p:spPr>
            <p:txBody>
              <a:bodyPr/>
              <a:lstStyle/>
              <a:p>
                <a:pPr>
                  <a:buNone/>
                </a:pPr>
                <a:r>
                  <a:rPr lang="nl-NL" dirty="0"/>
                  <a:t>Next, StratGWAS </a:t>
                </a:r>
                <a:r>
                  <a:rPr lang="nl-NL" dirty="0" err="1"/>
                  <a:t>computes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r>
                  <a:rPr lang="nl-NL" dirty="0"/>
                  <a:t>, </a:t>
                </a:r>
                <a:r>
                  <a:rPr lang="nl-NL" dirty="0" err="1"/>
                  <a:t>whose</a:t>
                </a:r>
                <a:r>
                  <a:rPr lang="nl-NL" dirty="0"/>
                  <a:t> entries are</a:t>
                </a:r>
              </a:p>
              <a:p>
                <a:pPr>
                  <a:buNone/>
                </a:pPr>
                <a:r>
                  <a:rPr lang="nl-NL" dirty="0" err="1"/>
                  <a:t>estimates</a:t>
                </a:r>
                <a:r>
                  <a:rPr lang="nl-NL" dirty="0"/>
                  <a:t> of </a:t>
                </a:r>
                <a:r>
                  <a:rPr lang="nl-NL" dirty="0" err="1"/>
                  <a:t>genetic</a:t>
                </a:r>
                <a:r>
                  <a:rPr lang="nl-NL" dirty="0"/>
                  <a:t> </a:t>
                </a:r>
                <a:r>
                  <a:rPr lang="nl-NL" dirty="0" err="1"/>
                  <a:t>coheritability</a:t>
                </a:r>
                <a:r>
                  <a:rPr lang="nl-NL" dirty="0"/>
                  <a:t> </a:t>
                </a:r>
                <a:r>
                  <a:rPr lang="nl-NL" dirty="0" err="1"/>
                  <a:t>between</a:t>
                </a:r>
                <a:r>
                  <a:rPr lang="nl-NL" dirty="0"/>
                  <a:t> </a:t>
                </a:r>
                <a:r>
                  <a:rPr lang="nl-NL" dirty="0" err="1"/>
                  <a:t>disease</a:t>
                </a:r>
                <a:r>
                  <a:rPr lang="nl-NL" dirty="0"/>
                  <a:t> </a:t>
                </a:r>
                <a:r>
                  <a:rPr lang="nl-NL" dirty="0" err="1"/>
                  <a:t>subgroups</a:t>
                </a:r>
                <a:r>
                  <a:rPr lang="nl-NL" dirty="0"/>
                  <a:t> </a:t>
                </a:r>
              </a:p>
              <a:p>
                <a:pPr>
                  <a:buNone/>
                </a:pPr>
                <a:endParaRPr lang="nl-NL" dirty="0"/>
              </a:p>
              <a:p>
                <a:pPr>
                  <a:buNone/>
                </a:pPr>
                <a:endParaRPr lang="nl-NL" dirty="0"/>
              </a:p>
              <a:p>
                <a:pPr>
                  <a:buNone/>
                </a:pPr>
                <a:endParaRPr lang="nl-NL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71A659D0-DFF4-0B89-2DB0-AC70F3631B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5780" y="1412776"/>
                <a:ext cx="11161240" cy="4464496"/>
              </a:xfrm>
              <a:blipFill>
                <a:blip r:embed="rId2"/>
                <a:stretch>
                  <a:fillRect l="-1479" t="-1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C863117-7E1D-BA09-DD1F-5BE6504CA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/>
              <a:t>29/04/2025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BB2708-EE9D-5E26-93B5-C4D06CD6F135}"/>
              </a:ext>
            </a:extLst>
          </p:cNvPr>
          <p:cNvSpPr txBox="1"/>
          <p:nvPr/>
        </p:nvSpPr>
        <p:spPr>
          <a:xfrm>
            <a:off x="775219" y="526438"/>
            <a:ext cx="10791801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b="1" dirty="0"/>
              <a:t>StratGWAS overview</a:t>
            </a:r>
            <a:endParaRPr lang="en-US" sz="3600" b="1" dirty="0">
              <a:latin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1BE891-99B2-6366-8C45-89D7916BB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28" y="2492896"/>
            <a:ext cx="3288065" cy="15786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jdelijke aanduiding voor inhoud 2">
                <a:extLst>
                  <a:ext uri="{FF2B5EF4-FFF2-40B4-BE49-F238E27FC236}">
                    <a16:creationId xmlns:a16="http://schemas.microsoft.com/office/drawing/2014/main" id="{31CF10CA-366C-06EE-81BA-ADEA834E4A7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4593725" y="2780928"/>
                <a:ext cx="6757272" cy="11724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>
                <a:lvl1pPr marL="0" indent="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Calibri" panose="020F0502020204030204" pitchFamily="34" charset="0"/>
                  <a:buChar char="​"/>
                  <a:defRPr sz="20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32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2pPr>
                <a:lvl3pPr marL="756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152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512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1836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1836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1836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1836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100000"/>
                  </a:lnSpc>
                  <a:buNone/>
                </a:pPr>
                <a:r>
                  <a:rPr lang="nl-NL" kern="0" dirty="0"/>
                  <a:t>StratGWAS </a:t>
                </a:r>
                <a:r>
                  <a:rPr lang="nl-NL" kern="0" dirty="0" err="1"/>
                  <a:t>performs</a:t>
                </a:r>
                <a:r>
                  <a:rPr lang="nl-NL" kern="0" dirty="0"/>
                  <a:t> </a:t>
                </a:r>
                <a:r>
                  <a:rPr lang="nl-NL" kern="0" dirty="0" err="1"/>
                  <a:t>an</a:t>
                </a:r>
                <a:r>
                  <a:rPr lang="nl-NL" kern="0" dirty="0"/>
                  <a:t> eigendecomposition, </a:t>
                </a:r>
                <a:r>
                  <a:rPr lang="nl-NL" kern="0" dirty="0" err="1"/>
                  <a:t>such</a:t>
                </a:r>
                <a:r>
                  <a:rPr lang="nl-NL" kern="0" dirty="0"/>
                  <a:t> </a:t>
                </a:r>
                <a:r>
                  <a:rPr lang="nl-NL" kern="0" dirty="0" err="1"/>
                  <a:t>that</a:t>
                </a:r>
                <a:r>
                  <a:rPr lang="nl-NL" kern="0" dirty="0"/>
                  <a:t> </a:t>
                </a:r>
              </a:p>
              <a:p>
                <a:pPr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contains the eigenvectors </a:t>
                </a:r>
              </a:p>
              <a:p>
                <a:pPr>
                  <a:lnSpc>
                    <a:spcPct val="100000"/>
                  </a:lnSpc>
                  <a:buNone/>
                </a:pP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dirty="0"/>
                  <a:t> is the diagonal matrix.</a:t>
                </a:r>
                <a:r>
                  <a:rPr lang="en-US" dirty="0">
                    <a:effectLst/>
                  </a:rPr>
                  <a:t> </a:t>
                </a:r>
                <a:endParaRPr lang="nl-NL" kern="0" dirty="0"/>
              </a:p>
            </p:txBody>
          </p:sp>
        </mc:Choice>
        <mc:Fallback xmlns="">
          <p:sp>
            <p:nvSpPr>
              <p:cNvPr id="8" name="Tijdelijke aanduiding voor inhoud 2">
                <a:extLst>
                  <a:ext uri="{FF2B5EF4-FFF2-40B4-BE49-F238E27FC236}">
                    <a16:creationId xmlns:a16="http://schemas.microsoft.com/office/drawing/2014/main" id="{31CF10CA-366C-06EE-81BA-ADEA834E4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93725" y="2780928"/>
                <a:ext cx="6757272" cy="1172487"/>
              </a:xfrm>
              <a:prstGeom prst="rect">
                <a:avLst/>
              </a:prstGeom>
              <a:blipFill>
                <a:blip r:embed="rId5"/>
                <a:stretch>
                  <a:fillRect l="-2251" t="-6383" b="-4255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jdelijke aanduiding voor inhoud 2">
                <a:extLst>
                  <a:ext uri="{FF2B5EF4-FFF2-40B4-BE49-F238E27FC236}">
                    <a16:creationId xmlns:a16="http://schemas.microsoft.com/office/drawing/2014/main" id="{A92F4958-9083-6D6B-9732-870FE3E96B0B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527574" y="4565391"/>
                <a:ext cx="7196637" cy="11724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>
                <a:lvl1pPr marL="0" indent="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Calibri" panose="020F0502020204030204" pitchFamily="34" charset="0"/>
                  <a:buChar char="​"/>
                  <a:defRPr sz="2000" b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32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2pPr>
                <a:lvl3pPr marL="756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3pPr>
                <a:lvl4pPr marL="1152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4pPr>
                <a:lvl5pPr marL="1512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SzPct val="100000"/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5pPr>
                <a:lvl6pPr marL="1836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6pPr>
                <a:lvl7pPr marL="1836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7pPr>
                <a:lvl8pPr marL="1836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8pPr>
                <a:lvl9pPr marL="1836000" indent="-180000" algn="l" rtl="0" eaLnBrk="1" fontAlgn="base" hangingPunct="1">
                  <a:lnSpc>
                    <a:spcPct val="99000"/>
                  </a:lnSpc>
                  <a:spcBef>
                    <a:spcPts val="600"/>
                  </a:spcBef>
                  <a:spcAft>
                    <a:spcPct val="0"/>
                  </a:spcAft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>
                    <a:solidFill>
                      <a:schemeClr val="tx1"/>
                    </a:solidFill>
                    <a:latin typeface="+mn-lt"/>
                  </a:defRPr>
                </a:lvl9pPr>
              </a:lstStyle>
              <a:p>
                <a:pPr>
                  <a:lnSpc>
                    <a:spcPct val="100000"/>
                  </a:lnSpc>
                  <a:buNone/>
                </a:pPr>
                <a:r>
                  <a:rPr lang="en-US" kern="0" dirty="0"/>
                  <a:t>The </a:t>
                </a:r>
                <a:r>
                  <a:rPr lang="en-US" dirty="0"/>
                  <a:t>first eigenvector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 …, 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</m:oMath>
                </a14:m>
                <a:r>
                  <a:rPr lang="en-US" dirty="0"/>
                  <a:t> defines the linear</a:t>
                </a:r>
              </a:p>
              <a:p>
                <a:pPr>
                  <a:lnSpc>
                    <a:spcPct val="100000"/>
                  </a:lnSpc>
                  <a:buNone/>
                </a:pPr>
                <a:r>
                  <a:rPr lang="en-US" dirty="0"/>
                  <a:t> combination of subgroups that maximizes overall heritability,</a:t>
                </a:r>
              </a:p>
              <a:p>
                <a:pPr>
                  <a:lnSpc>
                    <a:spcPct val="100000"/>
                  </a:lnSpc>
                  <a:buNone/>
                </a:pPr>
                <a:r>
                  <a:rPr lang="en-US" dirty="0"/>
                  <a:t> and is used to define a “transformed” phenotype”</a:t>
                </a:r>
                <a:endParaRPr lang="nl-NL" kern="0" dirty="0"/>
              </a:p>
            </p:txBody>
          </p:sp>
        </mc:Choice>
        <mc:Fallback xmlns="">
          <p:sp>
            <p:nvSpPr>
              <p:cNvPr id="9" name="Tijdelijke aanduiding voor inhoud 2">
                <a:extLst>
                  <a:ext uri="{FF2B5EF4-FFF2-40B4-BE49-F238E27FC236}">
                    <a16:creationId xmlns:a16="http://schemas.microsoft.com/office/drawing/2014/main" id="{A92F4958-9083-6D6B-9732-870FE3E96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574" y="4565391"/>
                <a:ext cx="7196637" cy="1172487"/>
              </a:xfrm>
              <a:prstGeom prst="rect">
                <a:avLst/>
              </a:prstGeom>
              <a:blipFill>
                <a:blip r:embed="rId6"/>
                <a:stretch>
                  <a:fillRect l="-2113" t="-6452" b="-430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FA943A88-87A6-1585-0E62-C248A99938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588" y="4725144"/>
            <a:ext cx="4117330" cy="7888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757DEF0-B737-DDF9-EF69-127E01D539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659" y="260648"/>
            <a:ext cx="3686810" cy="23042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012961-61A5-9665-BD3B-336B60D271D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1634" y="1646752"/>
            <a:ext cx="185353" cy="391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56EE615-B7DF-530D-0C69-B6E8B31627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9046" y="1636453"/>
            <a:ext cx="185353" cy="4015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A6209B1-B7AA-9196-3E50-617D1893C54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1500" y="1636452"/>
            <a:ext cx="195651" cy="401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E3841D-6EC5-E7D8-D481-B84F110174F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2791" y="1655466"/>
            <a:ext cx="206008" cy="3825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27B3F5-1972-4525-2A12-3D53E7B9FEB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116" y="1646748"/>
            <a:ext cx="195652" cy="391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11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04AE8-85F1-D54E-2067-E55A4B51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AF0BD51-2518-313B-7D16-099AE1926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796" y="1412776"/>
            <a:ext cx="8424936" cy="4464496"/>
          </a:xfrm>
        </p:spPr>
        <p:txBody>
          <a:bodyPr/>
          <a:lstStyle/>
          <a:p>
            <a:pPr>
              <a:buNone/>
            </a:pPr>
            <a:r>
              <a:rPr lang="nl-NL" dirty="0"/>
              <a:t>We next </a:t>
            </a:r>
            <a:r>
              <a:rPr lang="nl-NL" dirty="0" err="1"/>
              <a:t>applied</a:t>
            </a:r>
            <a:r>
              <a:rPr lang="nl-NL" dirty="0"/>
              <a:t> StratGWAS </a:t>
            </a:r>
            <a:r>
              <a:rPr lang="nl-NL" dirty="0" err="1"/>
              <a:t>to</a:t>
            </a:r>
            <a:r>
              <a:rPr lang="nl-NL" dirty="0"/>
              <a:t> 21 </a:t>
            </a:r>
            <a:r>
              <a:rPr lang="nl-NL" dirty="0" err="1"/>
              <a:t>binary</a:t>
            </a:r>
            <a:r>
              <a:rPr lang="nl-NL" dirty="0"/>
              <a:t> </a:t>
            </a:r>
            <a:r>
              <a:rPr lang="nl-NL" dirty="0" err="1"/>
              <a:t>traits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UK </a:t>
            </a:r>
            <a:r>
              <a:rPr lang="nl-NL" dirty="0" err="1"/>
              <a:t>Biobank</a:t>
            </a:r>
            <a:r>
              <a:rPr lang="nl-NL" dirty="0"/>
              <a:t>, </a:t>
            </a:r>
            <a:r>
              <a:rPr lang="nl-NL" dirty="0" err="1"/>
              <a:t>recorded</a:t>
            </a:r>
            <a:r>
              <a:rPr lang="nl-NL" dirty="0"/>
              <a:t> as ICD-10 codes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Age-at-</a:t>
            </a:r>
            <a:r>
              <a:rPr lang="nl-NL" dirty="0" err="1"/>
              <a:t>onset</a:t>
            </a:r>
            <a:r>
              <a:rPr lang="nl-NL" dirty="0"/>
              <a:t> as </a:t>
            </a:r>
            <a:r>
              <a:rPr lang="nl-NL" dirty="0" err="1"/>
              <a:t>stratification</a:t>
            </a:r>
            <a:r>
              <a:rPr lang="nl-NL" dirty="0"/>
              <a:t> </a:t>
            </a:r>
            <a:r>
              <a:rPr lang="nl-NL" dirty="0" err="1"/>
              <a:t>variable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Medication</a:t>
            </a:r>
            <a:r>
              <a:rPr lang="nl-NL" dirty="0"/>
              <a:t> </a:t>
            </a:r>
            <a:r>
              <a:rPr lang="nl-NL" dirty="0" err="1"/>
              <a:t>burden</a:t>
            </a:r>
            <a:r>
              <a:rPr lang="nl-NL" dirty="0"/>
              <a:t> as </a:t>
            </a:r>
            <a:r>
              <a:rPr lang="nl-NL" dirty="0" err="1"/>
              <a:t>stratification</a:t>
            </a:r>
            <a:r>
              <a:rPr lang="nl-NL" dirty="0"/>
              <a:t> </a:t>
            </a:r>
            <a:r>
              <a:rPr lang="nl-NL" dirty="0" err="1"/>
              <a:t>variable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E2DA1AE-C50C-3A53-684D-BB87254B5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/>
              <a:t>29/04/2025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CA5D26-E005-450F-7530-2D980E9BDEFC}"/>
              </a:ext>
            </a:extLst>
          </p:cNvPr>
          <p:cNvSpPr txBox="1"/>
          <p:nvPr/>
        </p:nvSpPr>
        <p:spPr>
          <a:xfrm>
            <a:off x="775219" y="626682"/>
            <a:ext cx="10791801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b="1" dirty="0">
                <a:latin typeface="+mn-lt"/>
              </a:rPr>
              <a:t>StratGWAS increases statistical power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E0642D-1948-25D1-0C1B-4C16F88D6A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0756" y="548680"/>
            <a:ext cx="2765108" cy="17281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5C9169-C78E-B24A-851D-99C26A2BA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428" y="4414139"/>
            <a:ext cx="5887574" cy="16950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34C1D33-657C-8CAE-0E97-F7EE13557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653" y="2598065"/>
            <a:ext cx="5754183" cy="1695031"/>
          </a:xfrm>
          <a:prstGeom prst="rect">
            <a:avLst/>
          </a:prstGeom>
        </p:spPr>
      </p:pic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120B6C40-13F5-2575-0EF1-B7FB408BD087}"/>
              </a:ext>
            </a:extLst>
          </p:cNvPr>
          <p:cNvSpPr txBox="1">
            <a:spLocks/>
          </p:cNvSpPr>
          <p:nvPr/>
        </p:nvSpPr>
        <p:spPr bwMode="auto">
          <a:xfrm>
            <a:off x="549796" y="3212976"/>
            <a:ext cx="8424936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Calibri" panose="020F0502020204030204" pitchFamily="34" charset="0"/>
              <a:buNone/>
            </a:pPr>
            <a:r>
              <a:rPr lang="nl-NL" kern="0" dirty="0" err="1"/>
              <a:t>Individuals</a:t>
            </a:r>
            <a:r>
              <a:rPr lang="nl-NL" kern="0" dirty="0"/>
              <a:t> </a:t>
            </a:r>
            <a:r>
              <a:rPr lang="nl-NL" kern="0" dirty="0" err="1"/>
              <a:t>with</a:t>
            </a:r>
            <a:r>
              <a:rPr lang="nl-NL" kern="0" dirty="0"/>
              <a:t> </a:t>
            </a:r>
            <a:r>
              <a:rPr lang="nl-NL" kern="0" dirty="0" err="1"/>
              <a:t>earlier</a:t>
            </a:r>
            <a:r>
              <a:rPr lang="nl-NL" kern="0" dirty="0"/>
              <a:t> </a:t>
            </a:r>
            <a:r>
              <a:rPr lang="nl-NL" kern="0" dirty="0" err="1"/>
              <a:t>onset</a:t>
            </a:r>
            <a:r>
              <a:rPr lang="nl-NL" kern="0" dirty="0"/>
              <a:t> or </a:t>
            </a:r>
            <a:r>
              <a:rPr lang="nl-NL" kern="0" dirty="0" err="1"/>
              <a:t>higher</a:t>
            </a:r>
            <a:r>
              <a:rPr lang="nl-NL" kern="0" dirty="0"/>
              <a:t> </a:t>
            </a:r>
            <a:r>
              <a:rPr lang="nl-NL" kern="0" dirty="0" err="1"/>
              <a:t>medication</a:t>
            </a:r>
            <a:endParaRPr lang="nl-NL" kern="0" dirty="0"/>
          </a:p>
          <a:p>
            <a:pPr>
              <a:buFont typeface="Calibri" panose="020F0502020204030204" pitchFamily="34" charset="0"/>
              <a:buNone/>
            </a:pPr>
            <a:r>
              <a:rPr lang="nl-NL" kern="0" dirty="0" err="1"/>
              <a:t>burden</a:t>
            </a:r>
            <a:r>
              <a:rPr lang="nl-NL" kern="0" dirty="0"/>
              <a:t> </a:t>
            </a:r>
            <a:r>
              <a:rPr lang="nl-NL" kern="0" dirty="0" err="1"/>
              <a:t>were</a:t>
            </a:r>
            <a:r>
              <a:rPr lang="nl-NL" kern="0" dirty="0"/>
              <a:t> </a:t>
            </a:r>
            <a:r>
              <a:rPr lang="nl-NL" kern="0" dirty="0" err="1"/>
              <a:t>assigned</a:t>
            </a:r>
            <a:r>
              <a:rPr lang="nl-NL" kern="0" dirty="0"/>
              <a:t> </a:t>
            </a:r>
            <a:r>
              <a:rPr lang="nl-NL" kern="0" dirty="0" err="1"/>
              <a:t>higher</a:t>
            </a:r>
            <a:r>
              <a:rPr lang="nl-NL" kern="0" dirty="0"/>
              <a:t> </a:t>
            </a:r>
            <a:r>
              <a:rPr lang="nl-NL" kern="0" dirty="0" err="1"/>
              <a:t>weights</a:t>
            </a:r>
            <a:endParaRPr lang="nl-NL" kern="0" dirty="0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89AE562F-8D64-0396-339A-BCA071E2A3F4}"/>
              </a:ext>
            </a:extLst>
          </p:cNvPr>
          <p:cNvSpPr txBox="1">
            <a:spLocks/>
          </p:cNvSpPr>
          <p:nvPr/>
        </p:nvSpPr>
        <p:spPr bwMode="auto">
          <a:xfrm>
            <a:off x="549796" y="4545124"/>
            <a:ext cx="8424936" cy="44644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Calibri" panose="020F0502020204030204" pitchFamily="34" charset="0"/>
              <a:buChar char="​"/>
              <a:defRPr sz="20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3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75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15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512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1836000" indent="-180000" algn="l" rtl="0" eaLnBrk="1" fontAlgn="base" hangingPunct="1">
              <a:lnSpc>
                <a:spcPct val="99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Font typeface="Calibri" panose="020F0502020204030204" pitchFamily="34" charset="0"/>
              <a:buNone/>
            </a:pPr>
            <a:r>
              <a:rPr lang="nl-NL" kern="0" dirty="0" err="1"/>
              <a:t>This</a:t>
            </a:r>
            <a:r>
              <a:rPr lang="nl-NL" kern="0" dirty="0"/>
              <a:t> </a:t>
            </a:r>
            <a:r>
              <a:rPr lang="nl-NL" kern="0" dirty="0" err="1"/>
              <a:t>translated</a:t>
            </a:r>
            <a:r>
              <a:rPr lang="nl-NL" kern="0" dirty="0"/>
              <a:t> in </a:t>
            </a:r>
            <a:r>
              <a:rPr lang="nl-NL" kern="0" dirty="0" err="1"/>
              <a:t>improved</a:t>
            </a:r>
            <a:r>
              <a:rPr lang="nl-NL" kern="0" dirty="0"/>
              <a:t> </a:t>
            </a:r>
            <a:r>
              <a:rPr lang="nl-NL" kern="0" dirty="0" err="1"/>
              <a:t>statistical</a:t>
            </a:r>
            <a:r>
              <a:rPr lang="nl-NL" kern="0" dirty="0"/>
              <a:t> power: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kern="0" dirty="0"/>
              <a:t>17% more independent </a:t>
            </a:r>
            <a:r>
              <a:rPr lang="nl-NL" kern="0" dirty="0" err="1"/>
              <a:t>loci</a:t>
            </a:r>
            <a:r>
              <a:rPr lang="nl-NL" kern="0" dirty="0"/>
              <a:t> </a:t>
            </a:r>
            <a:r>
              <a:rPr lang="nl-NL" kern="0" dirty="0" err="1"/>
              <a:t>for</a:t>
            </a:r>
            <a:r>
              <a:rPr lang="nl-NL" kern="0" dirty="0"/>
              <a:t> </a:t>
            </a:r>
            <a:r>
              <a:rPr lang="nl-NL" kern="0" dirty="0" err="1"/>
              <a:t>age</a:t>
            </a:r>
            <a:endParaRPr lang="nl-NL" kern="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kern="0" dirty="0"/>
              <a:t>4% more independent </a:t>
            </a:r>
            <a:r>
              <a:rPr lang="nl-NL" kern="0" dirty="0" err="1"/>
              <a:t>loci</a:t>
            </a:r>
            <a:r>
              <a:rPr lang="nl-NL" kern="0" dirty="0"/>
              <a:t> </a:t>
            </a:r>
            <a:r>
              <a:rPr lang="nl-NL" kern="0" dirty="0" err="1"/>
              <a:t>for</a:t>
            </a:r>
            <a:r>
              <a:rPr lang="nl-NL" kern="0" dirty="0"/>
              <a:t> </a:t>
            </a:r>
            <a:r>
              <a:rPr lang="nl-NL" kern="0" dirty="0" err="1"/>
              <a:t>medication</a:t>
            </a:r>
            <a:endParaRPr lang="nl-NL" kern="0" dirty="0"/>
          </a:p>
        </p:txBody>
      </p:sp>
    </p:spTree>
    <p:extLst>
      <p:ext uri="{BB962C8B-B14F-4D97-AF65-F5344CB8AC3E}">
        <p14:creationId xmlns:p14="http://schemas.microsoft.com/office/powerpoint/2010/main" val="324142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BDC6B-D709-1B1C-80F2-1B4682CAA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B63AE38-F8F7-2BED-A482-47B5E7ABB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04" y="1628800"/>
            <a:ext cx="7560840" cy="4248472"/>
          </a:xfrm>
        </p:spPr>
        <p:txBody>
          <a:bodyPr/>
          <a:lstStyle/>
          <a:p>
            <a:pPr>
              <a:buNone/>
            </a:pPr>
            <a:r>
              <a:rPr lang="nl-NL" dirty="0"/>
              <a:t>We </a:t>
            </a:r>
            <a:r>
              <a:rPr lang="nl-NL" dirty="0" err="1"/>
              <a:t>applied</a:t>
            </a:r>
            <a:r>
              <a:rPr lang="nl-NL" dirty="0"/>
              <a:t> StratGWAS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depression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UK </a:t>
            </a:r>
            <a:r>
              <a:rPr lang="nl-NL" dirty="0" err="1"/>
              <a:t>Biobank</a:t>
            </a:r>
            <a:r>
              <a:rPr lang="nl-NL" dirty="0"/>
              <a:t>, </a:t>
            </a:r>
            <a:r>
              <a:rPr lang="nl-NL" dirty="0" err="1"/>
              <a:t>using</a:t>
            </a:r>
            <a:r>
              <a:rPr lang="nl-NL" dirty="0"/>
              <a:t> different </a:t>
            </a:r>
            <a:r>
              <a:rPr lang="nl-NL" dirty="0" err="1"/>
              <a:t>stratification</a:t>
            </a:r>
            <a:r>
              <a:rPr lang="nl-NL" dirty="0"/>
              <a:t> variables:</a:t>
            </a:r>
          </a:p>
          <a:p>
            <a:pPr>
              <a:buNone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Diagnoses types</a:t>
            </a:r>
          </a:p>
          <a:p>
            <a:pPr marL="774900" lvl="1" indent="-342900">
              <a:buFont typeface="Courier New" panose="02070309020205020404" pitchFamily="49" charset="0"/>
              <a:buChar char="o"/>
            </a:pPr>
            <a:r>
              <a:rPr lang="nl-NL" dirty="0"/>
              <a:t>ICD-10 codes F32 </a:t>
            </a:r>
            <a:r>
              <a:rPr lang="nl-NL" dirty="0" err="1"/>
              <a:t>and</a:t>
            </a:r>
            <a:r>
              <a:rPr lang="nl-NL" dirty="0"/>
              <a:t> F33</a:t>
            </a:r>
          </a:p>
          <a:p>
            <a:pPr marL="774900" lvl="1" indent="-342900">
              <a:buFont typeface="Courier New" panose="02070309020205020404" pitchFamily="49" charset="0"/>
              <a:buChar char="o"/>
            </a:pPr>
            <a:r>
              <a:rPr lang="nl-NL" dirty="0" err="1"/>
              <a:t>Diagnosed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doctor </a:t>
            </a:r>
            <a:r>
              <a:rPr lang="nl-NL" dirty="0" err="1"/>
              <a:t>only</a:t>
            </a:r>
            <a:r>
              <a:rPr lang="nl-NL" dirty="0"/>
              <a:t>, </a:t>
            </a:r>
            <a:r>
              <a:rPr lang="nl-NL" dirty="0" err="1"/>
              <a:t>psychiatrist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, or </a:t>
            </a:r>
            <a:r>
              <a:rPr lang="nl-NL" dirty="0" err="1"/>
              <a:t>both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Indicator </a:t>
            </a: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seeking</a:t>
            </a:r>
            <a:r>
              <a:rPr lang="nl-NL" dirty="0"/>
              <a:t> </a:t>
            </a:r>
            <a:r>
              <a:rPr lang="nl-NL" dirty="0" err="1"/>
              <a:t>depression</a:t>
            </a:r>
            <a:r>
              <a:rPr lang="nl-NL" dirty="0"/>
              <a:t> treatment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“</a:t>
            </a:r>
            <a:r>
              <a:rPr lang="nl-NL" dirty="0" err="1"/>
              <a:t>Comorbidities</a:t>
            </a:r>
            <a:r>
              <a:rPr lang="nl-NL" dirty="0"/>
              <a:t>” </a:t>
            </a:r>
          </a:p>
          <a:p>
            <a:pPr marL="774900" lvl="1" indent="-342900">
              <a:buFont typeface="Courier New" panose="02070309020205020404" pitchFamily="49" charset="0"/>
              <a:buChar char="o"/>
            </a:pPr>
            <a:r>
              <a:rPr lang="nl-NL" dirty="0" err="1"/>
              <a:t>Bipolar</a:t>
            </a:r>
            <a:r>
              <a:rPr lang="nl-NL" dirty="0"/>
              <a:t> disorder</a:t>
            </a:r>
          </a:p>
          <a:p>
            <a:pPr marL="774900" lvl="1" indent="-342900">
              <a:buFont typeface="Courier New" panose="02070309020205020404" pitchFamily="49" charset="0"/>
              <a:buChar char="o"/>
            </a:pPr>
            <a:r>
              <a:rPr lang="nl-NL" dirty="0" err="1"/>
              <a:t>Schizophrenia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Self-reported</a:t>
            </a:r>
            <a:r>
              <a:rPr lang="nl-NL" dirty="0"/>
              <a:t> </a:t>
            </a:r>
            <a:r>
              <a:rPr lang="nl-NL" dirty="0" err="1"/>
              <a:t>depressive</a:t>
            </a:r>
            <a:r>
              <a:rPr lang="nl-NL" dirty="0"/>
              <a:t> </a:t>
            </a:r>
            <a:r>
              <a:rPr lang="nl-NL" dirty="0" err="1"/>
              <a:t>symptoms</a:t>
            </a:r>
            <a:r>
              <a:rPr lang="nl-NL" dirty="0"/>
              <a:t> (</a:t>
            </a:r>
            <a:r>
              <a:rPr lang="nl-NL" dirty="0" err="1"/>
              <a:t>from</a:t>
            </a:r>
            <a:r>
              <a:rPr lang="nl-NL" dirty="0"/>
              <a:t> PHQ-9 questionnaire)</a:t>
            </a:r>
          </a:p>
          <a:p>
            <a:pPr>
              <a:buNone/>
            </a:pP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961DE9A-57DF-95B2-64B9-FFEDF084E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/>
              <a:t>29/04/2025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A1CCBC-9017-B921-472C-70E4CF899328}"/>
              </a:ext>
            </a:extLst>
          </p:cNvPr>
          <p:cNvSpPr txBox="1"/>
          <p:nvPr/>
        </p:nvSpPr>
        <p:spPr>
          <a:xfrm>
            <a:off x="775219" y="626682"/>
            <a:ext cx="10791801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b="1" dirty="0">
                <a:latin typeface="+mn-lt"/>
              </a:rPr>
              <a:t>StratGWAS application to depression in UK Biobank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C8C231-0695-5198-1202-0FB9B2F4F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732" y="1412776"/>
            <a:ext cx="2347323" cy="514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69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0EA0A-B288-1020-729C-860F54F06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0770D16-C874-D19B-9798-1C89F7B4A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796" y="1484784"/>
            <a:ext cx="11017224" cy="43924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None/>
            </a:pP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28A9EF4C-476F-DA7F-39BB-ED576E09F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/>
              <a:t>29/04/2025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AB06AB-6587-A2E9-2766-3AF1B2E1A919}"/>
              </a:ext>
            </a:extLst>
          </p:cNvPr>
          <p:cNvSpPr txBox="1"/>
          <p:nvPr/>
        </p:nvSpPr>
        <p:spPr>
          <a:xfrm>
            <a:off x="775219" y="626682"/>
            <a:ext cx="10791801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b="1" dirty="0">
                <a:latin typeface="+mn-lt"/>
              </a:rPr>
              <a:t>StratGWAS upweights severe cases of depression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679995-40B9-8339-A110-EF7B1585F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496" y="1494173"/>
            <a:ext cx="11993588" cy="524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76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130F7-2AEC-394D-4E6B-71A25601A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C3D41B6-DCD2-0783-48C0-14F0B03E4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/>
              <a:t>29/04/2025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77F50-01A9-651B-4D9B-6420D214AF2D}"/>
              </a:ext>
            </a:extLst>
          </p:cNvPr>
          <p:cNvSpPr txBox="1"/>
          <p:nvPr/>
        </p:nvSpPr>
        <p:spPr>
          <a:xfrm>
            <a:off x="775219" y="626682"/>
            <a:ext cx="10791801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b="1" dirty="0">
                <a:latin typeface="+mn-lt"/>
              </a:rPr>
              <a:t>StratGWAS finds additional depression loci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FDC918-8ACA-EB83-49C3-AD2D32C8E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43012" y="1268760"/>
            <a:ext cx="2808313" cy="24124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5CA8D2-258F-7052-5F67-9A0224974F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450" y="3954507"/>
            <a:ext cx="8223335" cy="2150485"/>
          </a:xfrm>
          <a:prstGeom prst="rect">
            <a:avLst/>
          </a:prstGeom>
        </p:spPr>
      </p:pic>
      <p:sp>
        <p:nvSpPr>
          <p:cNvPr id="6" name="Tijdelijke aanduiding voor inhoud 2">
            <a:extLst>
              <a:ext uri="{FF2B5EF4-FFF2-40B4-BE49-F238E27FC236}">
                <a16:creationId xmlns:a16="http://schemas.microsoft.com/office/drawing/2014/main" id="{E496335E-D7A7-8C2C-CDA1-71B442300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796" y="1700808"/>
            <a:ext cx="8208912" cy="417646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StratGWAS </a:t>
            </a:r>
            <a:r>
              <a:rPr lang="nl-NL" dirty="0" err="1"/>
              <a:t>identified</a:t>
            </a:r>
            <a:r>
              <a:rPr lang="nl-NL" dirty="0"/>
              <a:t> 23 </a:t>
            </a:r>
            <a:r>
              <a:rPr lang="nl-NL" dirty="0" err="1"/>
              <a:t>loci</a:t>
            </a:r>
            <a:r>
              <a:rPr lang="nl-NL" dirty="0"/>
              <a:t>, versus 15 </a:t>
            </a:r>
            <a:r>
              <a:rPr lang="nl-NL" dirty="0" err="1"/>
              <a:t>from</a:t>
            </a:r>
            <a:r>
              <a:rPr lang="nl-NL" dirty="0"/>
              <a:t> case-control GWAS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7 / 8 new </a:t>
            </a:r>
            <a:r>
              <a:rPr lang="nl-NL" dirty="0" err="1"/>
              <a:t>loci</a:t>
            </a:r>
            <a:r>
              <a:rPr lang="nl-NL" dirty="0"/>
              <a:t> </a:t>
            </a:r>
            <a:r>
              <a:rPr lang="nl-NL" dirty="0" err="1"/>
              <a:t>were</a:t>
            </a:r>
            <a:r>
              <a:rPr lang="nl-NL" dirty="0"/>
              <a:t> </a:t>
            </a:r>
            <a:r>
              <a:rPr lang="nl-NL" dirty="0" err="1"/>
              <a:t>replicated</a:t>
            </a:r>
            <a:r>
              <a:rPr lang="nl-NL" dirty="0"/>
              <a:t> in PGC summary </a:t>
            </a:r>
            <a:r>
              <a:rPr lang="nl-NL" dirty="0" err="1"/>
              <a:t>statistics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Heritability</a:t>
            </a:r>
            <a:r>
              <a:rPr lang="nl-NL" dirty="0"/>
              <a:t> </a:t>
            </a:r>
            <a:r>
              <a:rPr lang="nl-NL" dirty="0" err="1"/>
              <a:t>estimates</a:t>
            </a:r>
            <a:r>
              <a:rPr lang="nl-NL" dirty="0"/>
              <a:t> </a:t>
            </a:r>
            <a:r>
              <a:rPr lang="nl-NL" dirty="0" err="1"/>
              <a:t>were</a:t>
            </a:r>
            <a:r>
              <a:rPr lang="nl-NL" dirty="0"/>
              <a:t> </a:t>
            </a:r>
            <a:r>
              <a:rPr lang="nl-NL" dirty="0" err="1"/>
              <a:t>higher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StratGWAS summary </a:t>
            </a:r>
            <a:r>
              <a:rPr lang="nl-NL" dirty="0" err="1"/>
              <a:t>statistics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Genetic</a:t>
            </a:r>
            <a:r>
              <a:rPr lang="nl-NL" dirty="0"/>
              <a:t> </a:t>
            </a:r>
            <a:r>
              <a:rPr lang="nl-NL" dirty="0" err="1"/>
              <a:t>correlation</a:t>
            </a:r>
            <a:r>
              <a:rPr lang="nl-NL" dirty="0"/>
              <a:t> analysis </a:t>
            </a:r>
            <a:r>
              <a:rPr lang="nl-NL" dirty="0" err="1"/>
              <a:t>suggests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transformed</a:t>
            </a:r>
            <a:r>
              <a:rPr lang="nl-NL" dirty="0"/>
              <a:t> </a:t>
            </a:r>
            <a:r>
              <a:rPr lang="nl-NL" dirty="0" err="1"/>
              <a:t>phenotype</a:t>
            </a:r>
            <a:r>
              <a:rPr lang="nl-NL" dirty="0"/>
              <a:t> preserves </a:t>
            </a:r>
            <a:r>
              <a:rPr lang="nl-NL" dirty="0" err="1"/>
              <a:t>specificity</a:t>
            </a:r>
            <a:endParaRPr lang="nl-NL" dirty="0"/>
          </a:p>
          <a:p>
            <a:pPr>
              <a:buNone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>
              <a:buNone/>
            </a:pPr>
            <a:endParaRPr lang="nl-N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265F8E-BB35-65F3-618B-970E0FC78A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6241" y="4092242"/>
            <a:ext cx="3086395" cy="2279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C2E19F2-EA77-CE6E-94CF-61C220037E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281" y="3796967"/>
            <a:ext cx="692150" cy="59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48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8FAD5-5838-0599-B22E-79B1D30F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A1C7D12-DEEA-04A3-0EB2-44DFE4BBE7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218" y="1556792"/>
                <a:ext cx="10575777" cy="2592288"/>
              </a:xfrm>
            </p:spPr>
            <p:txBody>
              <a:bodyPr/>
              <a:lstStyle/>
              <a:p>
                <a:pPr>
                  <a:buNone/>
                </a:pPr>
                <a:r>
                  <a:rPr lang="nl-NL" dirty="0"/>
                  <a:t>The performance of StratGWAS </a:t>
                </a:r>
                <a:r>
                  <a:rPr lang="nl-NL" dirty="0" err="1"/>
                  <a:t>depends</a:t>
                </a:r>
                <a:r>
                  <a:rPr lang="nl-NL" dirty="0"/>
                  <a:t> on </a:t>
                </a:r>
                <a:r>
                  <a:rPr lang="nl-NL" dirty="0" err="1"/>
                  <a:t>several</a:t>
                </a:r>
                <a:r>
                  <a:rPr lang="nl-NL" dirty="0"/>
                  <a:t> factors:</a:t>
                </a:r>
              </a:p>
              <a:p>
                <a:pPr>
                  <a:buNone/>
                </a:pPr>
                <a:endParaRPr lang="nl-NL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u="sng" dirty="0"/>
                  <a:t>Sample </a:t>
                </a:r>
                <a:r>
                  <a:rPr lang="nl-NL" u="sng" dirty="0" err="1"/>
                  <a:t>size</a:t>
                </a:r>
                <a:r>
                  <a:rPr lang="nl-NL" dirty="0"/>
                  <a:t> of </a:t>
                </a:r>
                <a:r>
                  <a:rPr lang="nl-NL" dirty="0" err="1"/>
                  <a:t>disease</a:t>
                </a:r>
                <a:r>
                  <a:rPr lang="nl-NL" dirty="0"/>
                  <a:t> </a:t>
                </a:r>
                <a:r>
                  <a:rPr lang="nl-NL" dirty="0" err="1"/>
                  <a:t>subgroups</a:t>
                </a:r>
                <a:r>
                  <a:rPr lang="nl-NL" dirty="0"/>
                  <a:t>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dirty="0" err="1"/>
                  <a:t>influence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reliability</a:t>
                </a:r>
                <a:r>
                  <a:rPr lang="nl-NL" dirty="0"/>
                  <a:t> of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transformed</a:t>
                </a:r>
                <a:r>
                  <a:rPr lang="nl-NL" dirty="0"/>
                  <a:t> </a:t>
                </a:r>
                <a:r>
                  <a:rPr lang="nl-NL" dirty="0" err="1"/>
                  <a:t>phenotype</a:t>
                </a:r>
                <a:endParaRPr lang="nl-NL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u="sng" dirty="0" err="1"/>
                  <a:t>Stratification</a:t>
                </a:r>
                <a:r>
                  <a:rPr lang="nl-NL" u="sng" dirty="0"/>
                  <a:t> variables</a:t>
                </a:r>
                <a:r>
                  <a:rPr lang="nl-NL" dirty="0"/>
                  <a:t> </a:t>
                </a:r>
                <a:r>
                  <a:rPr lang="nl-NL" dirty="0" err="1"/>
                  <a:t>that</a:t>
                </a:r>
                <a:r>
                  <a:rPr lang="nl-NL" dirty="0"/>
                  <a:t> have 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nl-NL" dirty="0"/>
                  <a:t> </a:t>
                </a:r>
                <a:r>
                  <a:rPr lang="nl-NL" dirty="0" err="1"/>
                  <a:t>with</a:t>
                </a:r>
                <a:r>
                  <a:rPr lang="nl-NL" dirty="0"/>
                  <a:t> target </a:t>
                </a:r>
                <a:r>
                  <a:rPr lang="nl-NL" dirty="0" err="1"/>
                  <a:t>trait</a:t>
                </a:r>
                <a:r>
                  <a:rPr lang="nl-NL" dirty="0"/>
                  <a:t>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dirty="0" err="1"/>
                  <a:t>induce</a:t>
                </a:r>
                <a:r>
                  <a:rPr lang="nl-NL" dirty="0"/>
                  <a:t> </a:t>
                </a:r>
                <a:r>
                  <a:rPr lang="nl-NL" dirty="0" err="1"/>
                  <a:t>false</a:t>
                </a:r>
                <a:r>
                  <a:rPr lang="nl-NL" dirty="0"/>
                  <a:t> </a:t>
                </a:r>
                <a:r>
                  <a:rPr lang="nl-NL" dirty="0" err="1"/>
                  <a:t>positives</a:t>
                </a:r>
                <a:endParaRPr lang="nl-NL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dirty="0" err="1"/>
                  <a:t>Analyzing</a:t>
                </a:r>
                <a:r>
                  <a:rPr lang="nl-NL" dirty="0"/>
                  <a:t>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transformed</a:t>
                </a:r>
                <a:r>
                  <a:rPr lang="nl-NL" dirty="0"/>
                  <a:t> </a:t>
                </a:r>
                <a:r>
                  <a:rPr lang="nl-NL" dirty="0" err="1"/>
                  <a:t>phenotype</a:t>
                </a:r>
                <a:r>
                  <a:rPr lang="nl-NL" dirty="0"/>
                  <a:t> in a </a:t>
                </a:r>
                <a:r>
                  <a:rPr lang="nl-NL" u="sng" dirty="0"/>
                  <a:t>mixed-model </a:t>
                </a:r>
                <a:r>
                  <a:rPr lang="nl-NL" u="sng" dirty="0" err="1"/>
                  <a:t>association</a:t>
                </a:r>
                <a:r>
                  <a:rPr lang="nl-NL" u="sng" dirty="0"/>
                  <a:t> tool</a:t>
                </a:r>
                <a:r>
                  <a:rPr lang="nl-NL" dirty="0"/>
                  <a:t> (</a:t>
                </a:r>
                <a:r>
                  <a:rPr lang="nl-NL" dirty="0" err="1"/>
                  <a:t>such</a:t>
                </a:r>
                <a:r>
                  <a:rPr lang="nl-NL" dirty="0"/>
                  <a:t> as LDAK-KVIK!) </a:t>
                </a:r>
                <a:r>
                  <a:rPr lang="nl-NL" dirty="0" err="1"/>
                  <a:t>can</a:t>
                </a:r>
                <a:r>
                  <a:rPr lang="nl-NL" dirty="0"/>
                  <a:t> </a:t>
                </a:r>
                <a:r>
                  <a:rPr lang="nl-NL" dirty="0" err="1"/>
                  <a:t>mitigate</a:t>
                </a:r>
                <a:r>
                  <a:rPr lang="nl-NL" dirty="0"/>
                  <a:t> type 1 </a:t>
                </a:r>
                <a:r>
                  <a:rPr lang="nl-NL" dirty="0" err="1"/>
                  <a:t>errors</a:t>
                </a:r>
                <a:r>
                  <a:rPr lang="nl-NL" dirty="0"/>
                  <a:t> </a:t>
                </a:r>
                <a:r>
                  <a:rPr lang="nl-NL" dirty="0" err="1"/>
                  <a:t>from</a:t>
                </a:r>
                <a:r>
                  <a:rPr lang="nl-NL" dirty="0"/>
                  <a:t> </a:t>
                </a:r>
                <a:r>
                  <a:rPr lang="nl-NL" dirty="0" err="1"/>
                  <a:t>relatedness</a:t>
                </a:r>
                <a:endParaRPr lang="nl-NL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0A1C7D12-DEEA-04A3-0EB2-44DFE4BBE7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218" y="1556792"/>
                <a:ext cx="10575777" cy="2592288"/>
              </a:xfrm>
              <a:blipFill>
                <a:blip r:embed="rId2"/>
                <a:stretch>
                  <a:fillRect l="-1439" t="-3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6EC6C9-C779-4F3A-E4ED-C6E6F4AE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/>
              <a:t>29/04/2025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71B14-D643-38E1-C26E-F00247E831DD}"/>
              </a:ext>
            </a:extLst>
          </p:cNvPr>
          <p:cNvSpPr txBox="1"/>
          <p:nvPr/>
        </p:nvSpPr>
        <p:spPr>
          <a:xfrm>
            <a:off x="775219" y="626682"/>
            <a:ext cx="10791801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b="1" dirty="0">
                <a:latin typeface="+mn-lt"/>
              </a:rPr>
              <a:t>StratGWAS considerations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5D53A2-6ED4-E2D7-FC05-C0C0269E12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292" y="4358191"/>
            <a:ext cx="6552728" cy="16630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19862C-726B-5A0B-F665-5C39D8A74B66}"/>
              </a:ext>
            </a:extLst>
          </p:cNvPr>
          <p:cNvSpPr txBox="1"/>
          <p:nvPr/>
        </p:nvSpPr>
        <p:spPr>
          <a:xfrm>
            <a:off x="1701924" y="5043545"/>
            <a:ext cx="2757486" cy="2923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nl-NL" sz="2000" dirty="0"/>
              <a:t>R package on GitHub </a:t>
            </a:r>
            <a:r>
              <a:rPr lang="nl-NL" sz="2000" dirty="0">
                <a:sym typeface="Wingdings" pitchFamily="2" charset="2"/>
              </a:rPr>
              <a:t>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288628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E9548-8989-22A1-E07E-BE65C4911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DC3882B-3790-799A-C8F4-F75AB447B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780" y="1556792"/>
            <a:ext cx="11665296" cy="4320480"/>
          </a:xfrm>
        </p:spPr>
        <p:txBody>
          <a:bodyPr/>
          <a:lstStyle/>
          <a:p>
            <a:pPr>
              <a:buNone/>
            </a:pPr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conducting</a:t>
            </a:r>
            <a:r>
              <a:rPr lang="nl-NL" dirty="0"/>
              <a:t> a GWAS on major </a:t>
            </a:r>
            <a:r>
              <a:rPr lang="nl-NL" dirty="0" err="1"/>
              <a:t>depressive</a:t>
            </a:r>
            <a:r>
              <a:rPr lang="nl-NL" dirty="0"/>
              <a:t> disorder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observe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cases</a:t>
            </a:r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/>
              <a:t> - </a:t>
            </a:r>
            <a:r>
              <a:rPr lang="nl-NL" u="sng" dirty="0"/>
              <a:t>Case A</a:t>
            </a:r>
            <a:r>
              <a:rPr lang="nl-NL" dirty="0"/>
              <a:t>: 	</a:t>
            </a:r>
            <a:r>
              <a:rPr lang="nl-NL" dirty="0" err="1"/>
              <a:t>self-diagnosed</a:t>
            </a:r>
            <a:r>
              <a:rPr lang="nl-NL" dirty="0"/>
              <a:t>,  low </a:t>
            </a:r>
            <a:r>
              <a:rPr lang="nl-NL" dirty="0" err="1"/>
              <a:t>symptom</a:t>
            </a:r>
            <a:r>
              <a:rPr lang="nl-NL" dirty="0"/>
              <a:t> score,  late </a:t>
            </a:r>
            <a:r>
              <a:rPr lang="nl-NL" dirty="0" err="1"/>
              <a:t>onset</a:t>
            </a:r>
            <a:endParaRPr lang="nl-NL" dirty="0"/>
          </a:p>
          <a:p>
            <a:pPr>
              <a:buNone/>
            </a:pPr>
            <a:r>
              <a:rPr lang="nl-NL" dirty="0"/>
              <a:t> - </a:t>
            </a:r>
            <a:r>
              <a:rPr lang="nl-NL" u="sng" dirty="0"/>
              <a:t>Case B</a:t>
            </a:r>
            <a:r>
              <a:rPr lang="nl-NL" dirty="0"/>
              <a:t>:	</a:t>
            </a:r>
            <a:r>
              <a:rPr lang="nl-NL" dirty="0" err="1"/>
              <a:t>clinically</a:t>
            </a:r>
            <a:r>
              <a:rPr lang="nl-NL" dirty="0"/>
              <a:t> </a:t>
            </a:r>
            <a:r>
              <a:rPr lang="nl-NL" dirty="0" err="1"/>
              <a:t>diagnosed</a:t>
            </a:r>
            <a:r>
              <a:rPr lang="nl-NL" dirty="0"/>
              <a:t>,  high </a:t>
            </a:r>
            <a:r>
              <a:rPr lang="nl-NL" dirty="0" err="1"/>
              <a:t>symptom</a:t>
            </a:r>
            <a:r>
              <a:rPr lang="nl-NL" dirty="0"/>
              <a:t> score,  </a:t>
            </a:r>
            <a:r>
              <a:rPr lang="nl-NL" dirty="0" err="1"/>
              <a:t>early</a:t>
            </a:r>
            <a:r>
              <a:rPr lang="nl-NL" dirty="0"/>
              <a:t> </a:t>
            </a:r>
            <a:r>
              <a:rPr lang="nl-NL" dirty="0" err="1"/>
              <a:t>onset</a:t>
            </a:r>
            <a:endParaRPr lang="nl-NL" dirty="0"/>
          </a:p>
          <a:p>
            <a:pPr>
              <a:buNone/>
            </a:pPr>
            <a:endParaRPr lang="nl-NL" dirty="0"/>
          </a:p>
          <a:p>
            <a:pPr>
              <a:buNone/>
            </a:pPr>
            <a:r>
              <a:rPr lang="nl-NL" dirty="0"/>
              <a:t>	</a:t>
            </a:r>
            <a:r>
              <a:rPr lang="nl-NL" i="1" dirty="0" err="1"/>
              <a:t>To</a:t>
            </a:r>
            <a:r>
              <a:rPr lang="nl-NL" i="1" dirty="0"/>
              <a:t> </a:t>
            </a:r>
            <a:r>
              <a:rPr lang="nl-NL" i="1" dirty="0" err="1"/>
              <a:t>improve</a:t>
            </a:r>
            <a:r>
              <a:rPr lang="nl-NL" i="1" dirty="0"/>
              <a:t> power, </a:t>
            </a:r>
            <a:r>
              <a:rPr lang="nl-NL" i="1" dirty="0" err="1"/>
              <a:t>likely</a:t>
            </a:r>
            <a:r>
              <a:rPr lang="nl-NL" i="1" dirty="0"/>
              <a:t> </a:t>
            </a:r>
            <a:r>
              <a:rPr lang="nl-NL" i="1" dirty="0" err="1"/>
              <a:t>better</a:t>
            </a:r>
            <a:r>
              <a:rPr lang="nl-NL" i="1" dirty="0"/>
              <a:t> </a:t>
            </a:r>
            <a:r>
              <a:rPr lang="nl-NL" i="1" dirty="0" err="1"/>
              <a:t>to</a:t>
            </a:r>
            <a:r>
              <a:rPr lang="nl-NL" i="1" dirty="0"/>
              <a:t> </a:t>
            </a:r>
            <a:r>
              <a:rPr lang="nl-NL" i="1" dirty="0" err="1"/>
              <a:t>assign</a:t>
            </a:r>
            <a:r>
              <a:rPr lang="nl-NL" i="1" dirty="0"/>
              <a:t> </a:t>
            </a:r>
            <a:r>
              <a:rPr lang="nl-NL" i="1" dirty="0" err="1"/>
              <a:t>higher</a:t>
            </a:r>
            <a:r>
              <a:rPr lang="nl-NL" i="1" dirty="0"/>
              <a:t> </a:t>
            </a:r>
            <a:r>
              <a:rPr lang="nl-NL" i="1" dirty="0" err="1"/>
              <a:t>weight</a:t>
            </a:r>
            <a:r>
              <a:rPr lang="nl-NL" i="1" dirty="0"/>
              <a:t> </a:t>
            </a:r>
            <a:r>
              <a:rPr lang="nl-NL" i="1" dirty="0" err="1"/>
              <a:t>to</a:t>
            </a:r>
            <a:r>
              <a:rPr lang="nl-NL" i="1" dirty="0"/>
              <a:t> Case B </a:t>
            </a:r>
            <a:endParaRPr lang="nl-NL" dirty="0"/>
          </a:p>
          <a:p>
            <a:pPr>
              <a:buNone/>
            </a:pPr>
            <a:endParaRPr lang="nl-NL" i="1" dirty="0"/>
          </a:p>
          <a:p>
            <a:pPr>
              <a:buNone/>
            </a:pPr>
            <a:r>
              <a:rPr lang="nl-NL" i="1" dirty="0"/>
              <a:t> - </a:t>
            </a:r>
            <a:r>
              <a:rPr lang="nl-NL" u="sng" dirty="0"/>
              <a:t>Case A</a:t>
            </a:r>
            <a:r>
              <a:rPr lang="nl-NL" dirty="0"/>
              <a:t>: 	a “proxy-case”: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individual</a:t>
            </a:r>
            <a:r>
              <a:rPr lang="nl-NL" dirty="0"/>
              <a:t> </a:t>
            </a:r>
            <a:r>
              <a:rPr lang="nl-NL" dirty="0" err="1"/>
              <a:t>likely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case </a:t>
            </a:r>
            <a:r>
              <a:rPr lang="nl-NL" dirty="0" err="1"/>
              <a:t>from</a:t>
            </a:r>
            <a:r>
              <a:rPr lang="nl-NL" dirty="0"/>
              <a:t> data, but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phenotyped</a:t>
            </a:r>
            <a:endParaRPr lang="nl-NL" i="1" u="sng" dirty="0"/>
          </a:p>
          <a:p>
            <a:pPr>
              <a:buNone/>
            </a:pPr>
            <a:r>
              <a:rPr lang="nl-NL" i="1" dirty="0"/>
              <a:t> - </a:t>
            </a:r>
            <a:r>
              <a:rPr lang="nl-NL" u="sng" dirty="0"/>
              <a:t>Case B</a:t>
            </a:r>
            <a:r>
              <a:rPr lang="nl-NL" dirty="0"/>
              <a:t>:	a hard </a:t>
            </a:r>
            <a:r>
              <a:rPr lang="nl-NL" dirty="0" err="1"/>
              <a:t>phenotyped</a:t>
            </a:r>
            <a:r>
              <a:rPr lang="nl-NL" dirty="0"/>
              <a:t> case</a:t>
            </a:r>
          </a:p>
          <a:p>
            <a:pPr>
              <a:buNone/>
            </a:pPr>
            <a:endParaRPr lang="nl-NL" dirty="0"/>
          </a:p>
          <a:p>
            <a:r>
              <a:rPr lang="nl-NL" i="1" dirty="0"/>
              <a:t>	 </a:t>
            </a:r>
            <a:r>
              <a:rPr lang="nl-NL" i="1" dirty="0" err="1"/>
              <a:t>To</a:t>
            </a:r>
            <a:r>
              <a:rPr lang="nl-NL" i="1" dirty="0"/>
              <a:t> </a:t>
            </a:r>
            <a:r>
              <a:rPr lang="nl-NL" i="1" dirty="0" err="1"/>
              <a:t>improve</a:t>
            </a:r>
            <a:r>
              <a:rPr lang="nl-NL" i="1" dirty="0"/>
              <a:t> power, </a:t>
            </a:r>
            <a:r>
              <a:rPr lang="nl-NL" i="1" dirty="0" err="1"/>
              <a:t>likely</a:t>
            </a:r>
            <a:r>
              <a:rPr lang="nl-NL" i="1" dirty="0"/>
              <a:t> </a:t>
            </a:r>
            <a:r>
              <a:rPr lang="nl-NL" i="1" dirty="0" err="1"/>
              <a:t>better</a:t>
            </a:r>
            <a:r>
              <a:rPr lang="nl-NL" i="1" dirty="0"/>
              <a:t> </a:t>
            </a:r>
            <a:r>
              <a:rPr lang="nl-NL" i="1" dirty="0" err="1"/>
              <a:t>to</a:t>
            </a:r>
            <a:r>
              <a:rPr lang="nl-NL" i="1" dirty="0"/>
              <a:t> </a:t>
            </a:r>
            <a:r>
              <a:rPr lang="nl-NL" i="1" dirty="0" err="1"/>
              <a:t>assign</a:t>
            </a:r>
            <a:r>
              <a:rPr lang="nl-NL" i="1" dirty="0"/>
              <a:t> </a:t>
            </a:r>
            <a:r>
              <a:rPr lang="nl-NL" i="1" dirty="0" err="1"/>
              <a:t>higher</a:t>
            </a:r>
            <a:r>
              <a:rPr lang="nl-NL" i="1" dirty="0"/>
              <a:t> </a:t>
            </a:r>
            <a:r>
              <a:rPr lang="nl-NL" i="1" dirty="0" err="1"/>
              <a:t>weight</a:t>
            </a:r>
            <a:r>
              <a:rPr lang="nl-NL" i="1" dirty="0"/>
              <a:t> </a:t>
            </a:r>
            <a:r>
              <a:rPr lang="nl-NL" i="1" dirty="0" err="1"/>
              <a:t>to</a:t>
            </a:r>
            <a:r>
              <a:rPr lang="nl-NL" i="1" dirty="0"/>
              <a:t> Case B 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9A5FF55-D779-9C92-5262-0BE0F9D23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/>
              <a:t>29/04/2025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20B22-6A62-16E4-935A-125B9A779EC9}"/>
              </a:ext>
            </a:extLst>
          </p:cNvPr>
          <p:cNvSpPr txBox="1"/>
          <p:nvPr/>
        </p:nvSpPr>
        <p:spPr>
          <a:xfrm>
            <a:off x="775219" y="626682"/>
            <a:ext cx="10791801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b="1" dirty="0">
                <a:latin typeface="+mn-lt"/>
              </a:rPr>
              <a:t>A hypothetical scenario (?)</a:t>
            </a:r>
          </a:p>
        </p:txBody>
      </p:sp>
    </p:spTree>
    <p:extLst>
      <p:ext uri="{BB962C8B-B14F-4D97-AF65-F5344CB8AC3E}">
        <p14:creationId xmlns:p14="http://schemas.microsoft.com/office/powerpoint/2010/main" val="1740796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11870-693A-DEBC-7301-D69AFD4F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95A0D37-5DDB-436C-330A-DDB2953D8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796" y="1628800"/>
            <a:ext cx="11017224" cy="410445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StratGWAS can leverage clinical heterogeneity to study genetic architecture of subgroups and compute a “transformed phenotype” for GWAS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boosts statistical power while preserving the specificity of the target binary trait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As biobanks expand their depth of clinical characterization, more possible applications of StratGWAS might arise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		</a:t>
            </a:r>
          </a:p>
          <a:p>
            <a:pPr>
              <a:buNone/>
            </a:pPr>
            <a:r>
              <a:rPr lang="en-US" dirty="0"/>
              <a:t>		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dirty="0" err="1"/>
              <a:t>Medrxiv</a:t>
            </a:r>
            <a:r>
              <a:rPr lang="en-US" dirty="0"/>
              <a:t>						   GitHub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None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u="sng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008CC5C-F614-E91D-EEB4-0E2175AF9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07406-EF0C-4580-81AE-4E834C032528}" type="datetime1">
              <a:rPr lang="en-GB" smtClean="0"/>
              <a:t>23/09/2026</a:t>
            </a:fld>
            <a:r>
              <a:rPr lang="en-GB"/>
              <a:t>29/04/2025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86E805-AE92-B460-330A-C13D25CB8C86}"/>
              </a:ext>
            </a:extLst>
          </p:cNvPr>
          <p:cNvSpPr txBox="1"/>
          <p:nvPr/>
        </p:nvSpPr>
        <p:spPr>
          <a:xfrm>
            <a:off x="775219" y="626682"/>
            <a:ext cx="10791801" cy="5262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5000"/>
              </a:lnSpc>
            </a:pPr>
            <a:r>
              <a:rPr lang="en-US" sz="3600" b="1" dirty="0">
                <a:latin typeface="+mn-lt"/>
              </a:rPr>
              <a:t>Summary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113D40-5AC7-CD74-7C8B-962D94143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092" y="4306253"/>
            <a:ext cx="1935604" cy="19250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49C5D3-C278-7FDF-1C7E-C22C253268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8708" y="4331414"/>
            <a:ext cx="1935604" cy="1939587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E7EE01A1-3203-CF74-9768-50E29DA81BBD}"/>
              </a:ext>
            </a:extLst>
          </p:cNvPr>
          <p:cNvSpPr/>
          <p:nvPr/>
        </p:nvSpPr>
        <p:spPr bwMode="auto">
          <a:xfrm>
            <a:off x="2524274" y="5268784"/>
            <a:ext cx="504056" cy="144017"/>
          </a:xfrm>
          <a:prstGeom prst="rightArrow">
            <a:avLst/>
          </a:prstGeom>
          <a:solidFill>
            <a:schemeClr val="accent2"/>
          </a:solidFill>
          <a:ln w="1778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0F4E786C-47AE-3A39-8D99-DA4D4BC640B1}"/>
              </a:ext>
            </a:extLst>
          </p:cNvPr>
          <p:cNvSpPr/>
          <p:nvPr/>
        </p:nvSpPr>
        <p:spPr bwMode="auto">
          <a:xfrm>
            <a:off x="8068890" y="5268785"/>
            <a:ext cx="504056" cy="144017"/>
          </a:xfrm>
          <a:prstGeom prst="rightArrow">
            <a:avLst/>
          </a:prstGeom>
          <a:solidFill>
            <a:schemeClr val="accent2"/>
          </a:solidFill>
          <a:ln w="1778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U Passata" pitchFamily="34" charset="0"/>
              <a:buNone/>
              <a:tabLst/>
            </a:pPr>
            <a:endParaRPr kumimoji="0" lang="en-US" sz="1600" b="0" i="0" u="none" strike="noStrike" cap="none" normalizeH="0" baseline="0" dirty="0" err="1">
              <a:ln>
                <a:noFill/>
              </a:ln>
              <a:solidFill>
                <a:schemeClr val="bg1"/>
              </a:solidFill>
              <a:effectLst/>
              <a:latin typeface="AU Passat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8072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MPLAFYSLIDEID" val="636235437374745988"/>
</p:tagLst>
</file>

<file path=ppt/theme/theme1.xml><?xml version="1.0" encoding="utf-8"?>
<a:theme xmlns:a="http://schemas.openxmlformats.org/drawingml/2006/main" name="AU 16:9">
  <a:themeElements>
    <a:clrScheme name="AU_Blue">
      <a:dk1>
        <a:srgbClr val="000000"/>
      </a:dk1>
      <a:lt1>
        <a:srgbClr val="FFFFFF"/>
      </a:lt1>
      <a:dk2>
        <a:srgbClr val="002546"/>
      </a:dk2>
      <a:lt2>
        <a:srgbClr val="002546"/>
      </a:lt2>
      <a:accent1>
        <a:srgbClr val="0A1439"/>
      </a:accent1>
      <a:accent2>
        <a:srgbClr val="183D83"/>
      </a:accent2>
      <a:accent3>
        <a:srgbClr val="87D1F4"/>
      </a:accent3>
      <a:accent4>
        <a:srgbClr val="33525F"/>
      </a:accent4>
      <a:accent5>
        <a:srgbClr val="548195"/>
      </a:accent5>
      <a:accent6>
        <a:srgbClr val="C6C6C6"/>
      </a:accent6>
      <a:hlink>
        <a:srgbClr val="03428E"/>
      </a:hlink>
      <a:folHlink>
        <a:srgbClr val="03428E"/>
      </a:folHlink>
    </a:clrScheme>
    <a:fontScheme name="AU Passata">
      <a:majorFont>
        <a:latin typeface="AU Passata"/>
        <a:ea typeface=""/>
        <a:cs typeface=""/>
      </a:majorFont>
      <a:minorFont>
        <a:latin typeface="AU Passa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marL="0" marR="0" indent="0" algn="l" defTabSz="914400" rtl="0" eaLnBrk="1" fontAlgn="base" latinLnBrk="0" hangingPunct="1">
          <a:lnSpc>
            <a:spcPct val="950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sz="1600" b="0" i="0" u="none" strike="noStrike" cap="none" normalizeH="0" baseline="0" dirty="0" err="1">
            <a:ln>
              <a:noFill/>
            </a:ln>
            <a:solidFill>
              <a:schemeClr val="bg1"/>
            </a:solidFill>
            <a:effectLst/>
            <a:latin typeface="AU Passat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778" cap="flat" cmpd="sng" algn="ctr">
          <a:solidFill>
            <a:schemeClr val="accent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ts val="3600"/>
          </a:lnSpc>
          <a:spcBef>
            <a:spcPct val="0"/>
          </a:spcBef>
          <a:spcAft>
            <a:spcPct val="0"/>
          </a:spcAft>
          <a:buClrTx/>
          <a:buSzTx/>
          <a:buFont typeface="AU Passata" pitchFamily="34" charset="0"/>
          <a:buNone/>
          <a:tabLst/>
          <a:defRPr kumimoji="0" lang="en-US" sz="3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U Passata" pitchFamily="34" charset="0"/>
          </a:defRPr>
        </a:defPPr>
      </a:lst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95000"/>
          </a:lnSpc>
          <a:defRPr sz="16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U PowerPoint Template 16-9.potx" id="{7A6F7BDC-B87C-43B1-A03F-8FC29EB8E4AA}" vid="{0342C178-0357-4DD1-B9D7-A15D067ACA9C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1fd1d36-fecb-47ca-b7d7-d0df0370a198}" enabled="0" method="" siteId="{61fd1d36-fecb-47ca-b7d7-d0df0370a1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966</Words>
  <Application>Microsoft Macintosh PowerPoint</Application>
  <PresentationFormat>Custom</PresentationFormat>
  <Paragraphs>158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7" baseType="lpstr">
      <vt:lpstr>Cambria Math</vt:lpstr>
      <vt:lpstr>Georgia</vt:lpstr>
      <vt:lpstr>AU Passata</vt:lpstr>
      <vt:lpstr>Courier New</vt:lpstr>
      <vt:lpstr>Aptos Display</vt:lpstr>
      <vt:lpstr>AU Peto</vt:lpstr>
      <vt:lpstr>Arial</vt:lpstr>
      <vt:lpstr>Aptos</vt:lpstr>
      <vt:lpstr>Wingdings</vt:lpstr>
      <vt:lpstr>AU Passata Light</vt:lpstr>
      <vt:lpstr>Calibri</vt:lpstr>
      <vt:lpstr>AU 16:9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modified xsi:type="dcterms:W3CDTF">2026-09-23T12:06:13Z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luginDependencies_0">
    <vt:lpwstr>{"635926855539746206:636045261152541358":[{"dependencyType":"DataSource","dependencyId":":","dependencyVersion":null},{"dependencyType":"DataSource","dependencyId":":","dependencyVersion":null},{"dependencyType":"DataSource","dependencyId":":","dependency</vt:lpwstr>
  </property>
  <property fmtid="{D5CDD505-2E9C-101B-9397-08002B2CF9AE}" pid="3" name="PluginDependencies_1">
    <vt:lpwstr>Version":null},{"dependencyType":"DataSource","dependencyId":":","dependencyVersion":null},{"dependencyType":"DataSource","dependencyId":":","dependencyVersion":null},{"dependencyType":"DataSource","dependencyId":":","dependencyVersion":null},{"dependency</vt:lpwstr>
  </property>
  <property fmtid="{D5CDD505-2E9C-101B-9397-08002B2CF9AE}" pid="4" name="PluginDependencies_2">
    <vt:lpwstr>Type":"DataSource","dependencyId":":","dependencyVersion":null},{"dependencyType":"DataSource","dependencyId":":","dependencyVersion":null},{"dependencyType":"DataSource","dependencyId":":","dependencyVersion":null},{"dependencyType":"DataSource","depende</vt:lpwstr>
  </property>
  <property fmtid="{D5CDD505-2E9C-101B-9397-08002B2CF9AE}" pid="5" name="PluginDependencies_3">
    <vt:lpwstr>ncyId":":","dependencyVersion":null},{"dependencyType":"DataSource","dependencyId":":","dependencyVersion":null},{"dependencyType":"DataSource","dependencyId":":","dependencyVersion":null},{"dependencyType":"DataSource","dependencyId":":","dependencyVersi</vt:lpwstr>
  </property>
  <property fmtid="{D5CDD505-2E9C-101B-9397-08002B2CF9AE}" pid="6" name="PluginDependencies_4">
    <vt:lpwstr>on":null},{"dependencyType":"DataSource","dependencyId":":","dependencyVersion":null},{"dependencyType":"DataSource","dependencyId":":","dependencyVersion":null},{"dependencyType":"DataSource","dependencyId":":","dependencyVersion":null},{"dependencyType"</vt:lpwstr>
  </property>
  <property fmtid="{D5CDD505-2E9C-101B-9397-08002B2CF9AE}" pid="7" name="PluginDependencies_5">
    <vt:lpwstr>:"DataSource","dependencyId":":","dependencyVersion":null},{"dependencyType":"DataSource","dependencyId":":","dependencyVersion":null},{"dependencyType":"DataSource","dependencyId":":","dependencyVersion":null},{"dependencyType":"DataSource","dependencyId</vt:lpwstr>
  </property>
  <property fmtid="{D5CDD505-2E9C-101B-9397-08002B2CF9AE}" pid="8" name="PluginDependencies_6">
    <vt:lpwstr>":":","dependencyVersion":null},{"dependencyType":"DataSource","dependencyId":":","dependencyVersion":null},{"dependencyType":"DataSource","dependencyId":":","dependencyVersion":null},{"dependencyType":"DataSource","dependencyId":":","dependencyVersion":n</vt:lpwstr>
  </property>
  <property fmtid="{D5CDD505-2E9C-101B-9397-08002B2CF9AE}" pid="9" name="PluginDependencies_7">
    <vt:lpwstr>ull},{"dependencyType":"DataSource","dependencyId":":","dependencyVersion":null},{"dependencyType":"DataSource","dependencyId":":","dependencyVersion":null},{"dependencyType":"DataSource","dependencyId":":","dependencyVersion":null},{"dependencyType":"Dat</vt:lpwstr>
  </property>
  <property fmtid="{D5CDD505-2E9C-101B-9397-08002B2CF9AE}" pid="10" name="PluginDependencies_8">
    <vt:lpwstr>aSource","dependencyId":":","dependencyVersion":null},{"dependencyType":"DataSource","dependencyId":":","dependencyVersion":null},{"dependencyType":"DataSource","dependencyId":":","dependencyVersion":null},{"dependencyType":"DataSource","dependencyId":":"</vt:lpwstr>
  </property>
  <property fmtid="{D5CDD505-2E9C-101B-9397-08002B2CF9AE}" pid="11" name="PluginDependencies_9">
    <vt:lpwstr>,"dependencyVersion":null},{"dependencyType":"DataSource","dependencyId":":","dependencyVersion":null},{"dependencyType":"DataSource","dependencyId":":","dependencyVersion":null},{"dependencyType":"DataSource","dependencyId":":","dependencyVersion":null},</vt:lpwstr>
  </property>
  <property fmtid="{D5CDD505-2E9C-101B-9397-08002B2CF9AE}" pid="12" name="PluginDependencies_10">
    <vt:lpwstr>{"dependencyType":"DataSource","dependencyId":":","dependencyVersion":null},{"dependencyType":"DataSource","dependencyId":":","dependencyVersion":null},{"dependencyType":"DataSource","dependencyId":":","dependencyVersion":null},{"dependencyType":"DataSour</vt:lpwstr>
  </property>
  <property fmtid="{D5CDD505-2E9C-101B-9397-08002B2CF9AE}" pid="13" name="PluginDependencies_11">
    <vt:lpwstr>ce","dependencyId":":","dependencyVersion":null},{"dependencyType":"DataSource","dependencyId":":","dependencyVersion":null},{"dependencyType":"DataSource","dependencyId":":","dependencyVersion":null},{"dependencyType":"DataSource","dependencyId":":","dep</vt:lpwstr>
  </property>
  <property fmtid="{D5CDD505-2E9C-101B-9397-08002B2CF9AE}" pid="14" name="PluginDependencies_12">
    <vt:lpwstr>endencyVersion":null},{"dependencyType":"DataSource","dependencyId":":","dependencyVersion":null},{"dependencyType":"DataSource","dependencyId":":","dependencyVersion":null},{"dependencyType":"DataSource","dependencyId":":","dependencyVersion":null},{"dep</vt:lpwstr>
  </property>
  <property fmtid="{D5CDD505-2E9C-101B-9397-08002B2CF9AE}" pid="15" name="PluginDependencies_13">
    <vt:lpwstr>endencyType":"DataSource","dependencyId":":","dependencyVersion":null},{"dependencyType":"DataSource","dependencyId":":","dependencyVersion":null},{"dependencyType":"DataSource","dependencyId":":","dependencyVersion":null},{"dependencyType":"DataSource","</vt:lpwstr>
  </property>
  <property fmtid="{D5CDD505-2E9C-101B-9397-08002B2CF9AE}" pid="16" name="PluginDependencies_14">
    <vt:lpwstr>dependencyId":":","dependencyVersion":null},{"dependencyType":"DataSource","dependencyId":":","dependencyVersion":null},{"dependencyType":"DataSource","dependencyId":":","dependencyVersion":null},{"dependencyType":"DataSource","dependencyId":":","dependen</vt:lpwstr>
  </property>
  <property fmtid="{D5CDD505-2E9C-101B-9397-08002B2CF9AE}" pid="17" name="PluginDependencies_15">
    <vt:lpwstr>cyVersion":null},{"dependencyType":"DataSource","dependencyId":":","dependencyVersion":null},{"dependencyType":"DataSource","dependencyId":":","dependencyVersion":null},{"dependencyType":"DataSource","dependencyId":":","dependencyVersion":null},{"dependen</vt:lpwstr>
  </property>
  <property fmtid="{D5CDD505-2E9C-101B-9397-08002B2CF9AE}" pid="18" name="PluginDependencies_16">
    <vt:lpwstr>cyType":"DataSource","dependencyId":":","dependencyVersion":null},{"dependencyType":"DataSource","dependencyId":":","dependencyVersion":null},{"dependencyType":"DataSource","dependencyId":":","dependencyVersion":null},{"dependencyType":"DataSource","depen</vt:lpwstr>
  </property>
  <property fmtid="{D5CDD505-2E9C-101B-9397-08002B2CF9AE}" pid="19" name="PluginDependencies_17">
    <vt:lpwstr>dencyId":":","dependencyVersion":null},{"dependencyType":"DataSource","dependencyId":":","dependencyVersion":null},{"dependencyType":"DataSource","dependencyId":":","dependencyVersion":null},{"dependencyType":"DataSource","dependencyId":":","dependencyVer</vt:lpwstr>
  </property>
  <property fmtid="{D5CDD505-2E9C-101B-9397-08002B2CF9AE}" pid="20" name="PluginDependencies_18">
    <vt:lpwstr>sion":null},{"dependencyType":"DataSource","dependencyId":":","dependencyVersion":null},{"dependencyType":"DataSource","dependencyId":":","dependencyVersion":null},{"dependencyType":"DataSource","dependencyId":":","dependencyVersion":null},{"dependencyTyp</vt:lpwstr>
  </property>
  <property fmtid="{D5CDD505-2E9C-101B-9397-08002B2CF9AE}" pid="21" name="PluginDependencies_19">
    <vt:lpwstr>e":"DataSource","dependencyId":":","dependencyVersion":null},{"dependencyType":"DataSource","dependencyId":":","dependencyVersion":null},{"dependencyType":"DataSource","dependencyId":":","dependencyVersion":null},{"dependencyType":"DataSource","dependency</vt:lpwstr>
  </property>
  <property fmtid="{D5CDD505-2E9C-101B-9397-08002B2CF9AE}" pid="22" name="PluginDependencies_20">
    <vt:lpwstr>Id":":","dependencyVersion":null},{"dependencyType":"DataSource","dependencyId":":","dependencyVersion":null},{"dependencyType":"DataSource","dependencyId":":","dependencyVersion":null},{"dependencyType":"DataSource","dependencyId":":","dependencyVersion"</vt:lpwstr>
  </property>
  <property fmtid="{D5CDD505-2E9C-101B-9397-08002B2CF9AE}" pid="23" name="PluginDependencies_21">
    <vt:lpwstr>:null},{"dependencyType":"DataSource","dependencyId":":","dependencyVersion":null},{"dependencyType":"DataSource","dependencyId":":","dependencyVersion":null},{"dependencyType":"DataSource","dependencyId":":","dependencyVersion":null},{"dependencyType":"D</vt:lpwstr>
  </property>
  <property fmtid="{D5CDD505-2E9C-101B-9397-08002B2CF9AE}" pid="24" name="PluginDependencies_22">
    <vt:lpwstr>ataSource","dependencyId":":","dependencyVersion":null},{"dependencyType":"DataSource","dependencyId":":","dependencyVersion":null},{"dependencyType":"DataSource","dependencyId":":","dependencyVersion":null},{"dependencyType":"DataSource","dependencyId":"</vt:lpwstr>
  </property>
  <property fmtid="{D5CDD505-2E9C-101B-9397-08002B2CF9AE}" pid="25" name="PluginDependencies_23">
    <vt:lpwstr>:","dependencyVersion":null},{"dependencyType":"DataSource","dependencyId":":","dependencyVersion":null},{"dependencyType":"DataSource","dependencyId":":","dependencyVersion":null},{"dependencyType":"DataSource","dependencyId":":","dependencyVersion":null</vt:lpwstr>
  </property>
  <property fmtid="{D5CDD505-2E9C-101B-9397-08002B2CF9AE}" pid="26" name="PluginDependencies_24">
    <vt:lpwstr>},{"dependencyType":"DataSource","dependencyId":":","dependencyVersion":null},{"dependencyType":"DataSource","dependencyId":":","dependencyVersion":null},{"dependencyType":"DataSource","dependencyId":":","dependencyVersion":null},{"dependencyType":"DataSo</vt:lpwstr>
  </property>
  <property fmtid="{D5CDD505-2E9C-101B-9397-08002B2CF9AE}" pid="27" name="PluginDependencies_25">
    <vt:lpwstr>urce","dependencyId":":","dependencyVersion":null},{"dependencyType":"DataSource","dependencyId":":","dependencyVersion":null},{"dependencyType":"DataSource","dependencyId":":","dependencyVersion":null},{"dependencyType":"DataSource","dependencyId":":","d</vt:lpwstr>
  </property>
  <property fmtid="{D5CDD505-2E9C-101B-9397-08002B2CF9AE}" pid="28" name="PluginDependencies_26">
    <vt:lpwstr>ependencyVersion":null},{"dependencyType":"DataSource","dependencyId":":","dependencyVersion":null},{"dependencyType":"DataSource","dependencyId":":","dependencyVersion":null},{"dependencyType":"DataSource","dependencyId":":","dependencyVersion":null},{"d</vt:lpwstr>
  </property>
  <property fmtid="{D5CDD505-2E9C-101B-9397-08002B2CF9AE}" pid="29" name="PluginDependencies_27">
    <vt:lpwstr>ependencyType":"DataSource","dependencyId":":","dependencyVersion":null},{"dependencyType":"DataSource","dependencyId":":","dependencyVersion":null},{"dependencyType":"DataSource","dependencyId":":","dependencyVersion":null},{"dependencyType":"DataSource"</vt:lpwstr>
  </property>
  <property fmtid="{D5CDD505-2E9C-101B-9397-08002B2CF9AE}" pid="30" name="PluginDependencies_28">
    <vt:lpwstr>,"dependencyId":":","dependencyVersion":null},{"dependencyType":"DataSource","dependencyId":":","dependencyVersion":null},{"dependencyType":"DataSource","dependencyId":":","dependencyVersion":null},{"dependencyType":"DataSource","dependencyId":":","depend</vt:lpwstr>
  </property>
  <property fmtid="{D5CDD505-2E9C-101B-9397-08002B2CF9AE}" pid="31" name="PluginDependencies_29">
    <vt:lpwstr>encyVersion":null},{"dependencyType":"DataSource","dependencyId":":","dependencyVersion":null},{"dependencyType":"DataSource","dependencyId":":","dependencyVersion":null},{"dependencyType":"DataSource","dependencyId":":","dependencyVersion":null},{"depend</vt:lpwstr>
  </property>
  <property fmtid="{D5CDD505-2E9C-101B-9397-08002B2CF9AE}" pid="32" name="PluginDependencies_30">
    <vt:lpwstr>encyType":"DataSource","dependencyId":":","dependencyVersion":null},{"dependencyType":"DataSource","dependencyId":":","dependencyVersion":null},{"dependencyType":"DataSource","dependencyId":":","dependencyVersion":null},{"dependencyType":"DataSource","dep</vt:lpwstr>
  </property>
  <property fmtid="{D5CDD505-2E9C-101B-9397-08002B2CF9AE}" pid="33" name="PluginDependencies_31">
    <vt:lpwstr>endencyId":":","dependencyVersion":null},{"dependencyType":"DataSource","dependencyId":":","dependencyVersion":null},{"dependencyType":"DataSource","dependencyId":":","dependencyVersion":null},{"dependencyType":"DataSource","dependencyId":":","dependencyV</vt:lpwstr>
  </property>
  <property fmtid="{D5CDD505-2E9C-101B-9397-08002B2CF9AE}" pid="34" name="PluginDependencies_32">
    <vt:lpwstr>ersion":null},{"dependencyType":"DataSource","dependencyId":":","dependencyVersion":null},{"dependencyType":"DataSource","dependencyId":":","dependencyVersion":null},{"dependencyType":"DataSource","dependencyId":":","dependencyVersion":null},{"dependencyT</vt:lpwstr>
  </property>
  <property fmtid="{D5CDD505-2E9C-101B-9397-08002B2CF9AE}" pid="35" name="PluginDependencies_33">
    <vt:lpwstr>ype":"DataSource","dependencyId":":","dependencyVersion":null},{"dependencyType":"DataSource","dependencyId":":","dependencyVersion":null},{"dependencyType":"DataSource","dependencyId":":","dependencyVersion":null},{"dependencyType":"DataSource","dependen</vt:lpwstr>
  </property>
  <property fmtid="{D5CDD505-2E9C-101B-9397-08002B2CF9AE}" pid="36" name="PluginDependencies_34">
    <vt:lpwstr>cyId":":","dependencyVersion":null},{"dependencyType":"DataSource","dependencyId":":","dependencyVersion":null},{"dependencyType":"DataSource","dependencyId":":","dependencyVersion":null},{"dependencyType":"DataSource","dependencyId":":","dependencyVersio</vt:lpwstr>
  </property>
  <property fmtid="{D5CDD505-2E9C-101B-9397-08002B2CF9AE}" pid="37" name="PluginDependencies_35">
    <vt:lpwstr>n":null},{"dependencyType":"DataSource","dependencyId":":","dependencyVersion":null},{"dependencyType":"DataSource","dependencyId":":","dependencyVersion":null},{"dependencyType":"DataSource","dependencyId":":","dependencyVersion":null},{"dependencyType":</vt:lpwstr>
  </property>
  <property fmtid="{D5CDD505-2E9C-101B-9397-08002B2CF9AE}" pid="38" name="PluginDependencies_36">
    <vt:lpwstr>"DataSource","dependencyId":":","dependencyVersion":null},{"dependencyType":"DataSource","dependencyId":":","dependencyVersion":null},{"dependencyType":"DataSource","dependencyId":":","dependencyVersion":null},{"dependencyType":"DataSource","dependencyId"</vt:lpwstr>
  </property>
  <property fmtid="{D5CDD505-2E9C-101B-9397-08002B2CF9AE}" pid="39" name="PluginDependencies_37">
    <vt:lpwstr>:":","dependencyVersion":null},{"dependencyType":"DataSource","dependencyId":":","dependencyVersion":null},{"dependencyType":"DataSource","dependencyId":":","dependencyVersion":null},{"dependencyType":"DataSource","dependencyId":":","dependencyVersion":nu</vt:lpwstr>
  </property>
  <property fmtid="{D5CDD505-2E9C-101B-9397-08002B2CF9AE}" pid="40" name="PluginDependencies_38">
    <vt:lpwstr>ll},{"dependencyType":"DataSource","dependencyId":":","dependencyVersion":null},{"dependencyType":"DataSource","dependencyId":":","dependencyVersion":null},{"dependencyType":"DataSource","dependencyId":":","dependencyVersion":null},{"dependencyType":"Data</vt:lpwstr>
  </property>
  <property fmtid="{D5CDD505-2E9C-101B-9397-08002B2CF9AE}" pid="41" name="PluginDependencies_39">
    <vt:lpwstr>Source","dependencyId":":","dependencyVersion":null},{"dependencyType":"DataSource","dependencyId":":","dependencyVersion":null},{"dependencyType":"DataSource","dependencyId":":","dependencyVersion":null},{"dependencyType":"DataSource","dependencyId":":",</vt:lpwstr>
  </property>
  <property fmtid="{D5CDD505-2E9C-101B-9397-08002B2CF9AE}" pid="42" name="PluginDependencies_40">
    <vt:lpwstr>"dependencyVersion":null},{"dependencyType":"DataSource","dependencyId":":","dependencyVersion":null},{"dependencyType":"DataSource","dependencyId":":","dependencyVersion":null},{"dependencyType":"DataSource","dependencyId":":","dependencyVersion":null},{</vt:lpwstr>
  </property>
  <property fmtid="{D5CDD505-2E9C-101B-9397-08002B2CF9AE}" pid="43" name="PluginDependencies_41">
    <vt:lpwstr>"dependencyType":"DataSource","dependencyId":":","dependencyVersion":null},{"dependencyType":"DataSource","dependencyId":":","dependencyVersion":null},{"dependencyType":"DataSource","dependencyId":":","dependencyVersion":null},{"dependencyType":"DataSourc</vt:lpwstr>
  </property>
  <property fmtid="{D5CDD505-2E9C-101B-9397-08002B2CF9AE}" pid="44" name="PluginDependencies_42">
    <vt:lpwstr>e","dependencyId":":","dependencyVersion":null},{"dependencyType":"DataSource","dependencyId":":","dependencyVersion":null},{"dependencyType":"DataSource","dependencyId":":","dependencyVersion":null},{"dependencyType":"DataSource","dependencyId":":","depe</vt:lpwstr>
  </property>
  <property fmtid="{D5CDD505-2E9C-101B-9397-08002B2CF9AE}" pid="45" name="PluginDependencies_43">
    <vt:lpwstr>ndencyVersion":null},{"dependencyType":"DataSource","dependencyId":":","dependencyVersion":null},{"dependencyType":"DataSource","dependencyId":":","dependencyVersion":null},{"dependencyType":"DataSource","dependencyId":":","dependencyVersion":null},{"depe</vt:lpwstr>
  </property>
  <property fmtid="{D5CDD505-2E9C-101B-9397-08002B2CF9AE}" pid="46" name="PluginDependencies_44">
    <vt:lpwstr>ndencyType":"DataSource","dependencyId":":","dependencyVersion":null},{"dependencyType":"DataSource","dependencyId":":","dependencyVersion":null},{"dependencyType":"DataSource","dependencyId":":","dependencyVersion":null},{"dependencyType":"DataSource","d</vt:lpwstr>
  </property>
  <property fmtid="{D5CDD505-2E9C-101B-9397-08002B2CF9AE}" pid="47" name="PluginDependencies_45">
    <vt:lpwstr>ependencyId":":","dependencyVersion":null},{"dependencyType":"DataSource","dependencyId":":","dependencyVersion":null},{"dependencyType":"DataSource","dependencyId":":","dependencyVersion":null},{"dependencyType":"DataSource","dependencyId":":","dependenc</vt:lpwstr>
  </property>
  <property fmtid="{D5CDD505-2E9C-101B-9397-08002B2CF9AE}" pid="48" name="PluginDependencies_46">
    <vt:lpwstr>yVersion":null},{"dependencyType":"DataSource","dependencyId":":","dependencyVersion":null},{"dependencyType":"DataSource","dependencyId":":","dependencyVersion":null},{"dependencyType":"DataSource","dependencyId":":","dependencyVersion":null},{"dependenc</vt:lpwstr>
  </property>
  <property fmtid="{D5CDD505-2E9C-101B-9397-08002B2CF9AE}" pid="49" name="PluginDependencies_47">
    <vt:lpwstr>yType":"DataSource","dependencyId":":","dependencyVersion":null},{"dependencyType":"DataSource","dependencyId":":","dependencyVersion":null},{"dependencyType":"DataSource","dependencyId":":","dependencyVersion":null},{"dependencyType":"DataSource","depend</vt:lpwstr>
  </property>
  <property fmtid="{D5CDD505-2E9C-101B-9397-08002B2CF9AE}" pid="50" name="PluginDependencies_48">
    <vt:lpwstr>encyId":":","dependencyVersion":null},{"dependencyType":"DataSource","dependencyId":":","dependencyVersion":null},{"dependencyType":"DataSource","dependencyId":":","dependencyVersion":null},{"dependencyType":"DataSource","dependencyId":":","dependencyVers</vt:lpwstr>
  </property>
  <property fmtid="{D5CDD505-2E9C-101B-9397-08002B2CF9AE}" pid="51" name="PluginDependencies_49">
    <vt:lpwstr>ion":null},{"dependencyType":"DataSource","dependencyId":":","dependencyVersion":null},{"dependencyType":"DataSource","dependencyId":":","dependencyVersion":null},{"dependencyType":"DataSource","dependencyId":":","dependencyVersion":null},{"dependencyType</vt:lpwstr>
  </property>
  <property fmtid="{D5CDD505-2E9C-101B-9397-08002B2CF9AE}" pid="52" name="PluginDependencies_50">
    <vt:lpwstr>":"DataSource","dependencyId":":","dependencyVersion":null},{"dependencyType":"DataSource","dependencyId":":","dependencyVersion":null},{"dependencyType":"DataSource","dependencyId":":","dependencyVersion":null},{"dependencyType":"DataSource","dependencyI</vt:lpwstr>
  </property>
  <property fmtid="{D5CDD505-2E9C-101B-9397-08002B2CF9AE}" pid="53" name="PluginDependencies_51">
    <vt:lpwstr>d":":","dependencyVersion":null},{"dependencyType":"DataSource","dependencyId":":","dependencyVersion":null},{"dependencyType":"DataSource","dependencyId":":","dependencyVersion":null},{"dependencyType":"DataSource","dependencyId":":","dependencyVersion":</vt:lpwstr>
  </property>
  <property fmtid="{D5CDD505-2E9C-101B-9397-08002B2CF9AE}" pid="54" name="PluginDependencies_52">
    <vt:lpwstr>null},{"dependencyType":"DataSource","dependencyId":":","dependencyVersion":null},{"dependencyType":"DataSource","dependencyId":":","dependencyVersion":null},{"dependencyType":"DataSource","dependencyId":":","dependencyVersion":null},{"dependencyType":"Da</vt:lpwstr>
  </property>
  <property fmtid="{D5CDD505-2E9C-101B-9397-08002B2CF9AE}" pid="55" name="PluginDependencies_53">
    <vt:lpwstr>taSource","dependencyId":":","dependencyVersion":null}],"635926855539746206:636045261152541359":[],"635926855539746206:636045261152541360":[],"635926855539746206:636045261152541361":[],"635926855539746206:636045261152541362":[],"635690283596553901:6357565</vt:lpwstr>
  </property>
  <property fmtid="{D5CDD505-2E9C-101B-9397-08002B2CF9AE}" pid="56" name="PluginDependencies_54">
    <vt:lpwstr>74568773657":[]}</vt:lpwstr>
  </property>
  <property fmtid="{D5CDD505-2E9C-101B-9397-08002B2CF9AE}" pid="57" name="CustomerId">
    <vt:lpwstr>auoffice</vt:lpwstr>
  </property>
  <property fmtid="{D5CDD505-2E9C-101B-9397-08002B2CF9AE}" pid="58" name="TemplateId">
    <vt:lpwstr>636196524199658508</vt:lpwstr>
  </property>
  <property fmtid="{D5CDD505-2E9C-101B-9397-08002B2CF9AE}" pid="59" name="UserProfileId">
    <vt:lpwstr>638193139237524966</vt:lpwstr>
  </property>
  <property fmtid="{D5CDD505-2E9C-101B-9397-08002B2CF9AE}" pid="60" name="TemplafyTimeStamp">
    <vt:lpwstr>2017-02-24T14:35:30.3621506Z</vt:lpwstr>
  </property>
  <property fmtid="{D5CDD505-2E9C-101B-9397-08002B2CF9AE}" pid="61" name="OfficeID">
    <vt:lpwstr/>
  </property>
  <property fmtid="{D5CDD505-2E9C-101B-9397-08002B2CF9AE}" pid="62" name="colorthemechange">
    <vt:lpwstr>True</vt:lpwstr>
  </property>
</Properties>
</file>